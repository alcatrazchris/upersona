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5" r:id="rId2"/>
    <p:sldId id="259" r:id="rId3"/>
    <p:sldId id="261" r:id="rId4"/>
    <p:sldId id="260" r:id="rId5"/>
    <p:sldId id="266" r:id="rId6"/>
    <p:sldId id="267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1pPr>
    <a:lvl2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2pPr>
    <a:lvl3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3pPr>
    <a:lvl4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4pPr>
    <a:lvl5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5pPr>
    <a:lvl6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6pPr>
    <a:lvl7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7pPr>
    <a:lvl8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8pPr>
    <a:lvl9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AD750-9EDC-4480-8164-01F44943622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7BF57-365C-4FC0-A28D-0E77EB3161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53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7BF57-365C-4FC0-A28D-0E77EB3161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92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面全版（图片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7" name="标题文本"/>
          <p:cNvSpPr txBox="1">
            <a:spLocks noGrp="1"/>
          </p:cNvSpPr>
          <p:nvPr>
            <p:ph type="title"/>
          </p:nvPr>
        </p:nvSpPr>
        <p:spPr>
          <a:xfrm>
            <a:off x="733990" y="2201035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19" name="date"/>
          <p:cNvSpPr txBox="1">
            <a:spLocks noGrp="1"/>
          </p:cNvSpPr>
          <p:nvPr>
            <p:ph type="body" sz="quarter" idx="23"/>
          </p:nvPr>
        </p:nvSpPr>
        <p:spPr>
          <a:xfrm>
            <a:off x="737065" y="2929149"/>
            <a:ext cx="7620001" cy="385222"/>
          </a:xfrm>
          <a:prstGeom prst="rect">
            <a:avLst/>
          </a:prstGeom>
        </p:spPr>
        <p:txBody>
          <a:bodyPr/>
          <a:lstStyle>
            <a:lvl1pPr defTabSz="1219200">
              <a:lnSpc>
                <a:spcPct val="8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lvl="0">
              <a:defRPr>
                <a:solidFill>
                  <a:srgbClr val="26282A"/>
                </a:solidFill>
              </a:defRPr>
            </a:pPr>
            <a:r>
              <a:rPr lang="zh-CN" altLang="en-US">
                <a:solidFill>
                  <a:srgbClr val="FFFFFF"/>
                </a:solidFill>
              </a:rPr>
              <a:t>单击此处编辑母版文本样式</a:t>
            </a:r>
          </a:p>
        </p:txBody>
      </p:sp>
      <p:sp>
        <p:nvSpPr>
          <p:cNvPr id="20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22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265454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/>
          </p:nvPr>
        </p:nvSpPr>
        <p:spPr>
          <a:xfrm>
            <a:off x="733990" y="3818251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3" name="date"/>
          <p:cNvSpPr txBox="1">
            <a:spLocks noGrp="1"/>
          </p:cNvSpPr>
          <p:nvPr>
            <p:ph type="body" sz="quarter" idx="21"/>
          </p:nvPr>
        </p:nvSpPr>
        <p:spPr>
          <a:xfrm>
            <a:off x="733990" y="4538384"/>
            <a:ext cx="7620001" cy="291420"/>
          </a:xfrm>
          <a:prstGeom prst="rect">
            <a:avLst/>
          </a:prstGeom>
        </p:spPr>
        <p:txBody>
          <a:bodyPr/>
          <a:lstStyle/>
          <a:p>
            <a:pPr lvl="0" defTabSz="1219200">
              <a:lnSpc>
                <a:spcPct val="80000"/>
              </a:lnSpc>
              <a:spcBef>
                <a:spcPts val="0"/>
              </a:spcBef>
              <a:defRPr>
                <a:latin typeface="+mj-lt"/>
                <a:ea typeface="+mj-ea"/>
                <a:cs typeface="+mj-cs"/>
                <a:sym typeface="微软雅黑" panose="020B0503020204020204" charset="-122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spcBef>
                <a:spcPts val="700"/>
              </a:spcBef>
              <a:defRPr sz="700">
                <a:solidFill>
                  <a:srgbClr val="5E666F"/>
                </a:solidFill>
                <a:latin typeface="+mn-lt"/>
                <a:ea typeface="+mn-ea"/>
                <a:cs typeface="+mn-cs"/>
                <a:sym typeface="Arial" panose="020B0604020202090204"/>
              </a:defRPr>
            </a:pPr>
            <a:r>
              <a:rPr lang="zh-CN" altLang="en-US" dirty="0">
                <a:latin typeface="+mj-lt"/>
                <a:ea typeface="+mj-ea"/>
                <a:cs typeface="+mj-cs"/>
                <a:sym typeface="微软雅黑" panose="020B0503020204020204" charset="-122"/>
              </a:rPr>
              <a:t>演示文稿主题文本｜版本</a:t>
            </a:r>
            <a:endParaRPr dirty="0"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  <p:sp>
        <p:nvSpPr>
          <p:cNvPr id="36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030F15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37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gradFill>
            <a:gsLst>
              <a:gs pos="39000">
                <a:schemeClr val="accent1"/>
              </a:gs>
              <a:gs pos="100000">
                <a:schemeClr val="accent3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10" name="矩形"/>
          <p:cNvSpPr/>
          <p:nvPr/>
        </p:nvSpPr>
        <p:spPr>
          <a:xfrm>
            <a:off x="0" y="0"/>
            <a:ext cx="12192000" cy="3441700"/>
          </a:xfrm>
          <a:prstGeom prst="rect">
            <a:avLst/>
          </a:prstGeom>
          <a:gradFill>
            <a:gsLst>
              <a:gs pos="0">
                <a:schemeClr val="accent3"/>
              </a:gs>
              <a:gs pos="87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10894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节页">
    <p:bg>
      <p:bgPr>
        <a:gradFill flip="none" rotWithShape="1">
          <a:gsLst>
            <a:gs pos="0">
              <a:schemeClr val="accent1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文本"/>
          <p:cNvSpPr txBox="1">
            <a:spLocks noGrp="1"/>
          </p:cNvSpPr>
          <p:nvPr>
            <p:ph type="title"/>
          </p:nvPr>
        </p:nvSpPr>
        <p:spPr>
          <a:xfrm>
            <a:off x="736090" y="2211776"/>
            <a:ext cx="6097623" cy="736483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37420" y="3672018"/>
            <a:ext cx="10717160" cy="1654628"/>
          </a:xfrm>
          <a:prstGeom prst="rect">
            <a:avLst/>
          </a:prstGeom>
        </p:spPr>
        <p:txBody>
          <a:bodyPr lIns="30234" tIns="30234" rIns="30234" bIns="30234"/>
          <a:lstStyle>
            <a:lvl1pPr marL="130810" indent="-130810">
              <a:spcBef>
                <a:spcPts val="700"/>
              </a:spcBef>
              <a:buClr>
                <a:srgbClr val="FFFFFF"/>
              </a:buClr>
              <a:buSzPct val="100000"/>
              <a:buChar char="•"/>
              <a:defRPr sz="1200" cap="all">
                <a:solidFill>
                  <a:srgbClr val="12181F"/>
                </a:solidFill>
              </a:defRPr>
            </a:lvl1pPr>
            <a:lvl2pPr marL="7620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2pPr>
            <a:lvl3pPr marL="13716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3pPr>
            <a:lvl4pPr marL="19812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4pPr>
            <a:lvl5pPr marL="25908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1" name="第几章节"/>
          <p:cNvSpPr txBox="1">
            <a:spLocks noGrp="1"/>
          </p:cNvSpPr>
          <p:nvPr>
            <p:ph type="body" sz="quarter" idx="21"/>
          </p:nvPr>
        </p:nvSpPr>
        <p:spPr>
          <a:xfrm>
            <a:off x="736090" y="1410609"/>
            <a:ext cx="6097623" cy="736484"/>
          </a:xfrm>
          <a:prstGeom prst="rect">
            <a:avLst/>
          </a:prstGeom>
        </p:spPr>
        <p:txBody>
          <a:bodyPr anchor="b"/>
          <a:lstStyle>
            <a:lvl1pPr defTabSz="358775">
              <a:lnSpc>
                <a:spcPct val="100000"/>
              </a:lnSpc>
              <a:spcBef>
                <a:spcPts val="0"/>
              </a:spcBef>
              <a:defRPr sz="4175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2" name="圆角矩形"/>
          <p:cNvSpPr/>
          <p:nvPr/>
        </p:nvSpPr>
        <p:spPr>
          <a:xfrm>
            <a:off x="726558" y="3197489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11092533" y="369887"/>
            <a:ext cx="361997" cy="364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6" h="21600" extrusionOk="0">
                <a:moveTo>
                  <a:pt x="10787" y="0"/>
                </a:moveTo>
                <a:cubicBezTo>
                  <a:pt x="6993" y="0"/>
                  <a:pt x="3653" y="1939"/>
                  <a:pt x="1711" y="4873"/>
                </a:cubicBezTo>
                <a:cubicBezTo>
                  <a:pt x="687" y="6458"/>
                  <a:pt x="74" y="8329"/>
                  <a:pt x="7" y="10335"/>
                </a:cubicBezTo>
                <a:cubicBezTo>
                  <a:pt x="3" y="10456"/>
                  <a:pt x="-7" y="10784"/>
                  <a:pt x="7" y="10982"/>
                </a:cubicBezTo>
                <a:cubicBezTo>
                  <a:pt x="17" y="11131"/>
                  <a:pt x="30" y="11298"/>
                  <a:pt x="149" y="11406"/>
                </a:cubicBezTo>
                <a:cubicBezTo>
                  <a:pt x="250" y="11499"/>
                  <a:pt x="371" y="11502"/>
                  <a:pt x="504" y="11512"/>
                </a:cubicBezTo>
                <a:cubicBezTo>
                  <a:pt x="629" y="11520"/>
                  <a:pt x="884" y="11524"/>
                  <a:pt x="1001" y="11524"/>
                </a:cubicBezTo>
                <a:lnTo>
                  <a:pt x="4161" y="11524"/>
                </a:lnTo>
                <a:cubicBezTo>
                  <a:pt x="4191" y="11524"/>
                  <a:pt x="4210" y="11518"/>
                  <a:pt x="4220" y="11512"/>
                </a:cubicBezTo>
                <a:cubicBezTo>
                  <a:pt x="4242" y="11502"/>
                  <a:pt x="4250" y="11485"/>
                  <a:pt x="4243" y="11465"/>
                </a:cubicBezTo>
                <a:cubicBezTo>
                  <a:pt x="4241" y="11457"/>
                  <a:pt x="4228" y="11442"/>
                  <a:pt x="4220" y="11430"/>
                </a:cubicBezTo>
                <a:cubicBezTo>
                  <a:pt x="4159" y="11335"/>
                  <a:pt x="3836" y="10822"/>
                  <a:pt x="3817" y="10794"/>
                </a:cubicBezTo>
                <a:cubicBezTo>
                  <a:pt x="3797" y="10764"/>
                  <a:pt x="3763" y="10732"/>
                  <a:pt x="3735" y="10700"/>
                </a:cubicBezTo>
                <a:cubicBezTo>
                  <a:pt x="3696" y="10658"/>
                  <a:pt x="3663" y="10626"/>
                  <a:pt x="3616" y="10606"/>
                </a:cubicBezTo>
                <a:cubicBezTo>
                  <a:pt x="3568" y="10584"/>
                  <a:pt x="3496" y="10572"/>
                  <a:pt x="3391" y="10570"/>
                </a:cubicBezTo>
                <a:cubicBezTo>
                  <a:pt x="3331" y="10570"/>
                  <a:pt x="3249" y="10570"/>
                  <a:pt x="3167" y="10570"/>
                </a:cubicBezTo>
                <a:cubicBezTo>
                  <a:pt x="2884" y="10570"/>
                  <a:pt x="1908" y="10570"/>
                  <a:pt x="1652" y="10570"/>
                </a:cubicBezTo>
                <a:cubicBezTo>
                  <a:pt x="1599" y="10570"/>
                  <a:pt x="1596" y="10570"/>
                  <a:pt x="1557" y="10570"/>
                </a:cubicBezTo>
                <a:cubicBezTo>
                  <a:pt x="1460" y="10566"/>
                  <a:pt x="1390" y="10492"/>
                  <a:pt x="1380" y="10394"/>
                </a:cubicBezTo>
                <a:cubicBezTo>
                  <a:pt x="1378" y="10364"/>
                  <a:pt x="1380" y="10328"/>
                  <a:pt x="1380" y="10311"/>
                </a:cubicBezTo>
                <a:cubicBezTo>
                  <a:pt x="1380" y="10261"/>
                  <a:pt x="1378" y="10209"/>
                  <a:pt x="1380" y="10158"/>
                </a:cubicBezTo>
                <a:cubicBezTo>
                  <a:pt x="1646" y="4965"/>
                  <a:pt x="5974" y="836"/>
                  <a:pt x="11260" y="836"/>
                </a:cubicBezTo>
                <a:cubicBezTo>
                  <a:pt x="16025" y="836"/>
                  <a:pt x="19991" y="4189"/>
                  <a:pt x="20928" y="8652"/>
                </a:cubicBezTo>
                <a:lnTo>
                  <a:pt x="21425" y="8652"/>
                </a:lnTo>
                <a:cubicBezTo>
                  <a:pt x="21290" y="7987"/>
                  <a:pt x="21098" y="7336"/>
                  <a:pt x="20845" y="6721"/>
                </a:cubicBezTo>
                <a:cubicBezTo>
                  <a:pt x="19226" y="2779"/>
                  <a:pt x="15334" y="0"/>
                  <a:pt x="10787" y="0"/>
                </a:cubicBezTo>
                <a:close/>
                <a:moveTo>
                  <a:pt x="10799" y="1436"/>
                </a:moveTo>
                <a:cubicBezTo>
                  <a:pt x="10609" y="1436"/>
                  <a:pt x="10418" y="1509"/>
                  <a:pt x="10266" y="1672"/>
                </a:cubicBezTo>
                <a:cubicBezTo>
                  <a:pt x="10170" y="1774"/>
                  <a:pt x="10073" y="1905"/>
                  <a:pt x="10006" y="2001"/>
                </a:cubicBezTo>
                <a:cubicBezTo>
                  <a:pt x="9941" y="2095"/>
                  <a:pt x="9920" y="2134"/>
                  <a:pt x="9793" y="2331"/>
                </a:cubicBezTo>
                <a:cubicBezTo>
                  <a:pt x="9510" y="2773"/>
                  <a:pt x="6551" y="7375"/>
                  <a:pt x="6196" y="7934"/>
                </a:cubicBezTo>
                <a:cubicBezTo>
                  <a:pt x="5499" y="9026"/>
                  <a:pt x="5220" y="9447"/>
                  <a:pt x="4942" y="10005"/>
                </a:cubicBezTo>
                <a:cubicBezTo>
                  <a:pt x="4691" y="10510"/>
                  <a:pt x="4689" y="11089"/>
                  <a:pt x="4930" y="11583"/>
                </a:cubicBezTo>
                <a:cubicBezTo>
                  <a:pt x="5176" y="12087"/>
                  <a:pt x="5485" y="12565"/>
                  <a:pt x="6208" y="13690"/>
                </a:cubicBezTo>
                <a:cubicBezTo>
                  <a:pt x="6230" y="13724"/>
                  <a:pt x="8988" y="18040"/>
                  <a:pt x="9781" y="19281"/>
                </a:cubicBezTo>
                <a:cubicBezTo>
                  <a:pt x="9913" y="19486"/>
                  <a:pt x="9900" y="19470"/>
                  <a:pt x="9994" y="19611"/>
                </a:cubicBezTo>
                <a:cubicBezTo>
                  <a:pt x="10091" y="19751"/>
                  <a:pt x="10160" y="19844"/>
                  <a:pt x="10255" y="19940"/>
                </a:cubicBezTo>
                <a:cubicBezTo>
                  <a:pt x="10394" y="20081"/>
                  <a:pt x="10585" y="20164"/>
                  <a:pt x="10787" y="20164"/>
                </a:cubicBezTo>
                <a:cubicBezTo>
                  <a:pt x="10977" y="20164"/>
                  <a:pt x="11168" y="20103"/>
                  <a:pt x="11320" y="19940"/>
                </a:cubicBezTo>
                <a:cubicBezTo>
                  <a:pt x="11416" y="19838"/>
                  <a:pt x="11513" y="19707"/>
                  <a:pt x="11580" y="19611"/>
                </a:cubicBezTo>
                <a:cubicBezTo>
                  <a:pt x="11645" y="19516"/>
                  <a:pt x="11666" y="19478"/>
                  <a:pt x="11793" y="19281"/>
                </a:cubicBezTo>
                <a:cubicBezTo>
                  <a:pt x="12076" y="18839"/>
                  <a:pt x="15035" y="14236"/>
                  <a:pt x="15390" y="13678"/>
                </a:cubicBezTo>
                <a:cubicBezTo>
                  <a:pt x="16087" y="12585"/>
                  <a:pt x="16366" y="12153"/>
                  <a:pt x="16644" y="11595"/>
                </a:cubicBezTo>
                <a:cubicBezTo>
                  <a:pt x="16895" y="11090"/>
                  <a:pt x="16897" y="10511"/>
                  <a:pt x="16656" y="10017"/>
                </a:cubicBezTo>
                <a:cubicBezTo>
                  <a:pt x="16410" y="9513"/>
                  <a:pt x="16101" y="9047"/>
                  <a:pt x="15378" y="7922"/>
                </a:cubicBezTo>
                <a:cubicBezTo>
                  <a:pt x="15356" y="7888"/>
                  <a:pt x="12598" y="3572"/>
                  <a:pt x="11805" y="2331"/>
                </a:cubicBezTo>
                <a:cubicBezTo>
                  <a:pt x="11673" y="2126"/>
                  <a:pt x="11687" y="2142"/>
                  <a:pt x="11592" y="2001"/>
                </a:cubicBezTo>
                <a:cubicBezTo>
                  <a:pt x="11497" y="1860"/>
                  <a:pt x="11426" y="1768"/>
                  <a:pt x="11331" y="1672"/>
                </a:cubicBezTo>
                <a:cubicBezTo>
                  <a:pt x="11192" y="1531"/>
                  <a:pt x="11001" y="1436"/>
                  <a:pt x="10799" y="1436"/>
                </a:cubicBezTo>
                <a:close/>
                <a:moveTo>
                  <a:pt x="8065" y="7204"/>
                </a:moveTo>
                <a:lnTo>
                  <a:pt x="13521" y="7204"/>
                </a:lnTo>
                <a:cubicBezTo>
                  <a:pt x="13728" y="7216"/>
                  <a:pt x="13931" y="7289"/>
                  <a:pt x="14089" y="7428"/>
                </a:cubicBezTo>
                <a:cubicBezTo>
                  <a:pt x="14280" y="7590"/>
                  <a:pt x="14394" y="7836"/>
                  <a:pt x="14408" y="8087"/>
                </a:cubicBezTo>
                <a:lnTo>
                  <a:pt x="14408" y="13525"/>
                </a:lnTo>
                <a:cubicBezTo>
                  <a:pt x="14396" y="13744"/>
                  <a:pt x="14311" y="13955"/>
                  <a:pt x="14160" y="14114"/>
                </a:cubicBezTo>
                <a:cubicBezTo>
                  <a:pt x="13996" y="14290"/>
                  <a:pt x="13761" y="14396"/>
                  <a:pt x="13521" y="14408"/>
                </a:cubicBezTo>
                <a:lnTo>
                  <a:pt x="8065" y="14408"/>
                </a:lnTo>
                <a:cubicBezTo>
                  <a:pt x="7841" y="14396"/>
                  <a:pt x="7624" y="14306"/>
                  <a:pt x="7462" y="14149"/>
                </a:cubicBezTo>
                <a:cubicBezTo>
                  <a:pt x="7292" y="13986"/>
                  <a:pt x="7178" y="13758"/>
                  <a:pt x="7166" y="13525"/>
                </a:cubicBezTo>
                <a:lnTo>
                  <a:pt x="7166" y="8087"/>
                </a:lnTo>
                <a:cubicBezTo>
                  <a:pt x="7178" y="7848"/>
                  <a:pt x="7296" y="7614"/>
                  <a:pt x="7474" y="7451"/>
                </a:cubicBezTo>
                <a:cubicBezTo>
                  <a:pt x="7633" y="7300"/>
                  <a:pt x="7847" y="7218"/>
                  <a:pt x="8065" y="7204"/>
                </a:cubicBezTo>
                <a:close/>
                <a:moveTo>
                  <a:pt x="8065" y="7663"/>
                </a:moveTo>
                <a:cubicBezTo>
                  <a:pt x="7900" y="7675"/>
                  <a:pt x="7755" y="7785"/>
                  <a:pt x="7687" y="7934"/>
                </a:cubicBezTo>
                <a:cubicBezTo>
                  <a:pt x="7657" y="7996"/>
                  <a:pt x="7640" y="8066"/>
                  <a:pt x="7639" y="8134"/>
                </a:cubicBezTo>
                <a:cubicBezTo>
                  <a:pt x="7639" y="9916"/>
                  <a:pt x="7639" y="11708"/>
                  <a:pt x="7639" y="13490"/>
                </a:cubicBezTo>
                <a:cubicBezTo>
                  <a:pt x="7639" y="13701"/>
                  <a:pt x="7798" y="13897"/>
                  <a:pt x="8006" y="13937"/>
                </a:cubicBezTo>
                <a:cubicBezTo>
                  <a:pt x="8069" y="13951"/>
                  <a:pt x="8145" y="13935"/>
                  <a:pt x="8207" y="13937"/>
                </a:cubicBezTo>
                <a:lnTo>
                  <a:pt x="13473" y="13937"/>
                </a:lnTo>
                <a:cubicBezTo>
                  <a:pt x="13604" y="13937"/>
                  <a:pt x="13739" y="13892"/>
                  <a:pt x="13828" y="13796"/>
                </a:cubicBezTo>
                <a:cubicBezTo>
                  <a:pt x="13907" y="13711"/>
                  <a:pt x="13947" y="13592"/>
                  <a:pt x="13947" y="13478"/>
                </a:cubicBezTo>
                <a:cubicBezTo>
                  <a:pt x="13947" y="11696"/>
                  <a:pt x="13947" y="9906"/>
                  <a:pt x="13947" y="8122"/>
                </a:cubicBezTo>
                <a:cubicBezTo>
                  <a:pt x="13947" y="7931"/>
                  <a:pt x="13819" y="7761"/>
                  <a:pt x="13639" y="7698"/>
                </a:cubicBezTo>
                <a:cubicBezTo>
                  <a:pt x="13544" y="7662"/>
                  <a:pt x="13442" y="7665"/>
                  <a:pt x="13343" y="7663"/>
                </a:cubicBezTo>
                <a:cubicBezTo>
                  <a:pt x="11586" y="7663"/>
                  <a:pt x="9820" y="7663"/>
                  <a:pt x="8065" y="7663"/>
                </a:cubicBezTo>
                <a:close/>
                <a:moveTo>
                  <a:pt x="9095" y="9064"/>
                </a:moveTo>
                <a:cubicBezTo>
                  <a:pt x="9428" y="9064"/>
                  <a:pt x="9756" y="9064"/>
                  <a:pt x="10089" y="9064"/>
                </a:cubicBezTo>
                <a:cubicBezTo>
                  <a:pt x="10089" y="9938"/>
                  <a:pt x="10089" y="10815"/>
                  <a:pt x="10089" y="11689"/>
                </a:cubicBezTo>
                <a:cubicBezTo>
                  <a:pt x="10085" y="11944"/>
                  <a:pt x="9951" y="12186"/>
                  <a:pt x="9746" y="12336"/>
                </a:cubicBezTo>
                <a:cubicBezTo>
                  <a:pt x="9568" y="12471"/>
                  <a:pt x="9343" y="12544"/>
                  <a:pt x="9119" y="12548"/>
                </a:cubicBezTo>
                <a:cubicBezTo>
                  <a:pt x="9016" y="12548"/>
                  <a:pt x="8916" y="12548"/>
                  <a:pt x="8811" y="12548"/>
                </a:cubicBezTo>
                <a:cubicBezTo>
                  <a:pt x="8811" y="12393"/>
                  <a:pt x="8811" y="12244"/>
                  <a:pt x="8811" y="12089"/>
                </a:cubicBezTo>
                <a:cubicBezTo>
                  <a:pt x="8914" y="12089"/>
                  <a:pt x="9016" y="12089"/>
                  <a:pt x="9119" y="12089"/>
                </a:cubicBezTo>
                <a:cubicBezTo>
                  <a:pt x="9278" y="12085"/>
                  <a:pt x="9442" y="11994"/>
                  <a:pt x="9521" y="11854"/>
                </a:cubicBezTo>
                <a:cubicBezTo>
                  <a:pt x="9575" y="11765"/>
                  <a:pt x="9568" y="11660"/>
                  <a:pt x="9568" y="11559"/>
                </a:cubicBezTo>
                <a:cubicBezTo>
                  <a:pt x="9463" y="11559"/>
                  <a:pt x="9354" y="11559"/>
                  <a:pt x="9249" y="11559"/>
                </a:cubicBezTo>
                <a:cubicBezTo>
                  <a:pt x="9132" y="11559"/>
                  <a:pt x="9019" y="11568"/>
                  <a:pt x="8906" y="11524"/>
                </a:cubicBezTo>
                <a:cubicBezTo>
                  <a:pt x="8683" y="11448"/>
                  <a:pt x="8517" y="11227"/>
                  <a:pt x="8515" y="10994"/>
                </a:cubicBezTo>
                <a:cubicBezTo>
                  <a:pt x="8515" y="10544"/>
                  <a:pt x="8515" y="10102"/>
                  <a:pt x="8515" y="9652"/>
                </a:cubicBezTo>
                <a:cubicBezTo>
                  <a:pt x="8515" y="9504"/>
                  <a:pt x="8578" y="9347"/>
                  <a:pt x="8681" y="9240"/>
                </a:cubicBezTo>
                <a:cubicBezTo>
                  <a:pt x="8788" y="9128"/>
                  <a:pt x="8939" y="9064"/>
                  <a:pt x="9095" y="9064"/>
                </a:cubicBezTo>
                <a:close/>
                <a:moveTo>
                  <a:pt x="10444" y="9064"/>
                </a:moveTo>
                <a:cubicBezTo>
                  <a:pt x="11127" y="9064"/>
                  <a:pt x="11808" y="9064"/>
                  <a:pt x="12491" y="9064"/>
                </a:cubicBezTo>
                <a:cubicBezTo>
                  <a:pt x="12643" y="9064"/>
                  <a:pt x="12786" y="9124"/>
                  <a:pt x="12893" y="9229"/>
                </a:cubicBezTo>
                <a:cubicBezTo>
                  <a:pt x="13004" y="9337"/>
                  <a:pt x="13073" y="9486"/>
                  <a:pt x="13071" y="9641"/>
                </a:cubicBezTo>
                <a:cubicBezTo>
                  <a:pt x="13071" y="10279"/>
                  <a:pt x="13071" y="10920"/>
                  <a:pt x="13071" y="11559"/>
                </a:cubicBezTo>
                <a:cubicBezTo>
                  <a:pt x="12895" y="11559"/>
                  <a:pt x="12726" y="11559"/>
                  <a:pt x="12550" y="11559"/>
                </a:cubicBezTo>
                <a:cubicBezTo>
                  <a:pt x="12550" y="10940"/>
                  <a:pt x="12550" y="10318"/>
                  <a:pt x="12550" y="9699"/>
                </a:cubicBezTo>
                <a:cubicBezTo>
                  <a:pt x="12552" y="9605"/>
                  <a:pt x="12468" y="9519"/>
                  <a:pt x="12373" y="9523"/>
                </a:cubicBezTo>
                <a:cubicBezTo>
                  <a:pt x="12258" y="9523"/>
                  <a:pt x="12133" y="9523"/>
                  <a:pt x="12018" y="9523"/>
                </a:cubicBezTo>
                <a:cubicBezTo>
                  <a:pt x="12018" y="10200"/>
                  <a:pt x="12018" y="10882"/>
                  <a:pt x="12018" y="11559"/>
                </a:cubicBezTo>
                <a:cubicBezTo>
                  <a:pt x="11842" y="11559"/>
                  <a:pt x="11673" y="11559"/>
                  <a:pt x="11497" y="11559"/>
                </a:cubicBezTo>
                <a:cubicBezTo>
                  <a:pt x="11497" y="10882"/>
                  <a:pt x="11497" y="10200"/>
                  <a:pt x="11497" y="9523"/>
                </a:cubicBezTo>
                <a:cubicBezTo>
                  <a:pt x="11321" y="9523"/>
                  <a:pt x="11140" y="9523"/>
                  <a:pt x="10965" y="9523"/>
                </a:cubicBezTo>
                <a:cubicBezTo>
                  <a:pt x="10965" y="10200"/>
                  <a:pt x="10965" y="10882"/>
                  <a:pt x="10965" y="11559"/>
                </a:cubicBezTo>
                <a:lnTo>
                  <a:pt x="10444" y="11559"/>
                </a:lnTo>
                <a:cubicBezTo>
                  <a:pt x="10444" y="10728"/>
                  <a:pt x="10444" y="9895"/>
                  <a:pt x="10444" y="9064"/>
                </a:cubicBezTo>
                <a:close/>
                <a:moveTo>
                  <a:pt x="9213" y="9523"/>
                </a:moveTo>
                <a:cubicBezTo>
                  <a:pt x="9122" y="9523"/>
                  <a:pt x="9044" y="9609"/>
                  <a:pt x="9048" y="9699"/>
                </a:cubicBezTo>
                <a:lnTo>
                  <a:pt x="9036" y="9699"/>
                </a:lnTo>
                <a:cubicBezTo>
                  <a:pt x="9036" y="10105"/>
                  <a:pt x="9036" y="10508"/>
                  <a:pt x="9036" y="10912"/>
                </a:cubicBezTo>
                <a:cubicBezTo>
                  <a:pt x="9032" y="11002"/>
                  <a:pt x="9120" y="11086"/>
                  <a:pt x="9213" y="11088"/>
                </a:cubicBezTo>
                <a:cubicBezTo>
                  <a:pt x="9332" y="11088"/>
                  <a:pt x="9447" y="11088"/>
                  <a:pt x="9568" y="11088"/>
                </a:cubicBezTo>
                <a:cubicBezTo>
                  <a:pt x="9568" y="10566"/>
                  <a:pt x="9568" y="10047"/>
                  <a:pt x="9568" y="9523"/>
                </a:cubicBezTo>
                <a:cubicBezTo>
                  <a:pt x="9449" y="9523"/>
                  <a:pt x="9332" y="9523"/>
                  <a:pt x="9213" y="9523"/>
                </a:cubicBezTo>
                <a:close/>
                <a:moveTo>
                  <a:pt x="17366" y="10088"/>
                </a:moveTo>
                <a:cubicBezTo>
                  <a:pt x="17344" y="10098"/>
                  <a:pt x="17336" y="10127"/>
                  <a:pt x="17343" y="10147"/>
                </a:cubicBezTo>
                <a:cubicBezTo>
                  <a:pt x="17345" y="10155"/>
                  <a:pt x="17358" y="10158"/>
                  <a:pt x="17366" y="10170"/>
                </a:cubicBezTo>
                <a:cubicBezTo>
                  <a:pt x="17427" y="10265"/>
                  <a:pt x="17750" y="10778"/>
                  <a:pt x="17769" y="10806"/>
                </a:cubicBezTo>
                <a:cubicBezTo>
                  <a:pt x="17789" y="10836"/>
                  <a:pt x="17823" y="10880"/>
                  <a:pt x="17851" y="10912"/>
                </a:cubicBezTo>
                <a:cubicBezTo>
                  <a:pt x="17890" y="10954"/>
                  <a:pt x="17923" y="10986"/>
                  <a:pt x="17970" y="11006"/>
                </a:cubicBezTo>
                <a:cubicBezTo>
                  <a:pt x="18018" y="11028"/>
                  <a:pt x="18090" y="11039"/>
                  <a:pt x="18195" y="11041"/>
                </a:cubicBezTo>
                <a:cubicBezTo>
                  <a:pt x="18255" y="11041"/>
                  <a:pt x="18337" y="11041"/>
                  <a:pt x="18419" y="11041"/>
                </a:cubicBezTo>
                <a:cubicBezTo>
                  <a:pt x="18702" y="11041"/>
                  <a:pt x="19678" y="11041"/>
                  <a:pt x="19934" y="11041"/>
                </a:cubicBezTo>
                <a:cubicBezTo>
                  <a:pt x="19987" y="11041"/>
                  <a:pt x="19990" y="11041"/>
                  <a:pt x="20029" y="11041"/>
                </a:cubicBezTo>
                <a:cubicBezTo>
                  <a:pt x="20126" y="11045"/>
                  <a:pt x="20196" y="11108"/>
                  <a:pt x="20206" y="11206"/>
                </a:cubicBezTo>
                <a:cubicBezTo>
                  <a:pt x="20208" y="11236"/>
                  <a:pt x="20206" y="11284"/>
                  <a:pt x="20206" y="11300"/>
                </a:cubicBezTo>
                <a:cubicBezTo>
                  <a:pt x="20206" y="11350"/>
                  <a:pt x="20208" y="11403"/>
                  <a:pt x="20206" y="11453"/>
                </a:cubicBezTo>
                <a:cubicBezTo>
                  <a:pt x="19940" y="16647"/>
                  <a:pt x="15612" y="20776"/>
                  <a:pt x="10326" y="20776"/>
                </a:cubicBezTo>
                <a:cubicBezTo>
                  <a:pt x="5561" y="20776"/>
                  <a:pt x="1595" y="17423"/>
                  <a:pt x="658" y="12960"/>
                </a:cubicBezTo>
                <a:lnTo>
                  <a:pt x="161" y="12960"/>
                </a:lnTo>
                <a:cubicBezTo>
                  <a:pt x="296" y="13625"/>
                  <a:pt x="488" y="14264"/>
                  <a:pt x="741" y="14879"/>
                </a:cubicBezTo>
                <a:cubicBezTo>
                  <a:pt x="2360" y="18821"/>
                  <a:pt x="6252" y="21600"/>
                  <a:pt x="10799" y="21600"/>
                </a:cubicBezTo>
                <a:cubicBezTo>
                  <a:pt x="14593" y="21600"/>
                  <a:pt x="17933" y="19661"/>
                  <a:pt x="19875" y="16727"/>
                </a:cubicBezTo>
                <a:cubicBezTo>
                  <a:pt x="20899" y="15142"/>
                  <a:pt x="21512" y="13271"/>
                  <a:pt x="21579" y="11265"/>
                </a:cubicBezTo>
                <a:cubicBezTo>
                  <a:pt x="21583" y="11144"/>
                  <a:pt x="21593" y="10828"/>
                  <a:pt x="21579" y="10629"/>
                </a:cubicBezTo>
                <a:lnTo>
                  <a:pt x="21567" y="10629"/>
                </a:lnTo>
                <a:cubicBezTo>
                  <a:pt x="21557" y="10481"/>
                  <a:pt x="21544" y="10314"/>
                  <a:pt x="21425" y="10206"/>
                </a:cubicBezTo>
                <a:cubicBezTo>
                  <a:pt x="21324" y="10113"/>
                  <a:pt x="21215" y="10110"/>
                  <a:pt x="21082" y="10100"/>
                </a:cubicBezTo>
                <a:cubicBezTo>
                  <a:pt x="20957" y="10092"/>
                  <a:pt x="20702" y="10088"/>
                  <a:pt x="20585" y="10088"/>
                </a:cubicBezTo>
                <a:lnTo>
                  <a:pt x="17425" y="10088"/>
                </a:lnTo>
                <a:cubicBezTo>
                  <a:pt x="17395" y="10088"/>
                  <a:pt x="17376" y="10082"/>
                  <a:pt x="17366" y="10088"/>
                </a:cubicBezTo>
                <a:close/>
                <a:moveTo>
                  <a:pt x="10444" y="12077"/>
                </a:moveTo>
                <a:cubicBezTo>
                  <a:pt x="11300" y="12077"/>
                  <a:pt x="12155" y="12077"/>
                  <a:pt x="13012" y="12077"/>
                </a:cubicBezTo>
                <a:cubicBezTo>
                  <a:pt x="13012" y="12232"/>
                  <a:pt x="13012" y="12393"/>
                  <a:pt x="13012" y="12548"/>
                </a:cubicBezTo>
                <a:cubicBezTo>
                  <a:pt x="12155" y="12548"/>
                  <a:pt x="11300" y="12548"/>
                  <a:pt x="10444" y="12548"/>
                </a:cubicBezTo>
                <a:cubicBezTo>
                  <a:pt x="10444" y="12393"/>
                  <a:pt x="10444" y="12232"/>
                  <a:pt x="10444" y="1207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19325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2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02304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gradFill>
          <a:gsLst>
            <a:gs pos="0">
              <a:schemeClr val="bg1">
                <a:lumMod val="40000"/>
                <a:lumOff val="60000"/>
              </a:schemeClr>
            </a:gs>
            <a:gs pos="100000">
              <a:schemeClr val="bg1">
                <a:lumMod val="75000"/>
                <a:lumOff val="25000"/>
              </a:schemeClr>
            </a:gs>
          </a:gsLst>
          <a:lin ang="13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0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83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84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7" name="形状"/>
          <p:cNvSpPr/>
          <p:nvPr/>
        </p:nvSpPr>
        <p:spPr>
          <a:xfrm>
            <a:off x="4598910" y="2559845"/>
            <a:ext cx="2994180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006159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95A21-9AB0-60D8-EB03-2303FE0B6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A3DBFA-5FFF-D5C0-7260-D4E8FB6D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99BDAB-B6A7-D9FF-2BFE-25629EC3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CDAC-A978-4F26-97DA-B8F4854E95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2EB2C8-85E7-6E7D-3424-DEB87678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4B00C-7AC6-FD27-3A8C-ED719D82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09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736600" y="387311"/>
            <a:ext cx="8890000" cy="3654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736600" y="1509983"/>
            <a:ext cx="10717160" cy="43856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5683" y="6386645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700" cap="none">
                <a:solidFill>
                  <a:srgbClr val="26282A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线条"/>
          <p:cNvSpPr/>
          <p:nvPr/>
        </p:nvSpPr>
        <p:spPr>
          <a:xfrm>
            <a:off x="736600" y="886637"/>
            <a:ext cx="10729397" cy="1"/>
          </a:xfrm>
          <a:prstGeom prst="line">
            <a:avLst/>
          </a:prstGeom>
          <a:ln w="6350">
            <a:solidFill>
              <a:srgbClr val="848A9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10" name="成组"/>
          <p:cNvGrpSpPr/>
          <p:nvPr/>
        </p:nvGrpSpPr>
        <p:grpSpPr>
          <a:xfrm>
            <a:off x="11092557" y="369960"/>
            <a:ext cx="361951" cy="364086"/>
            <a:chOff x="0" y="0"/>
            <a:chExt cx="361950" cy="364084"/>
          </a:xfrm>
        </p:grpSpPr>
        <p:sp>
          <p:nvSpPr>
            <p:cNvPr id="12" name="形状"/>
            <p:cNvSpPr/>
            <p:nvPr/>
          </p:nvSpPr>
          <p:spPr>
            <a:xfrm>
              <a:off x="79698" y="24209"/>
              <a:ext cx="202520" cy="315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12478" y="1024"/>
                  </a:moveTo>
                  <a:cubicBezTo>
                    <a:pt x="12246" y="788"/>
                    <a:pt x="12268" y="806"/>
                    <a:pt x="12100" y="644"/>
                  </a:cubicBezTo>
                  <a:cubicBezTo>
                    <a:pt x="11932" y="482"/>
                    <a:pt x="11810" y="378"/>
                    <a:pt x="11642" y="266"/>
                  </a:cubicBezTo>
                  <a:cubicBezTo>
                    <a:pt x="11395" y="104"/>
                    <a:pt x="11059" y="0"/>
                    <a:pt x="10702" y="0"/>
                  </a:cubicBezTo>
                  <a:cubicBezTo>
                    <a:pt x="10366" y="0"/>
                    <a:pt x="10019" y="79"/>
                    <a:pt x="9751" y="266"/>
                  </a:cubicBezTo>
                  <a:cubicBezTo>
                    <a:pt x="9579" y="385"/>
                    <a:pt x="9415" y="535"/>
                    <a:pt x="9297" y="646"/>
                  </a:cubicBezTo>
                  <a:cubicBezTo>
                    <a:pt x="9182" y="755"/>
                    <a:pt x="9139" y="799"/>
                    <a:pt x="8914" y="1026"/>
                  </a:cubicBezTo>
                  <a:cubicBezTo>
                    <a:pt x="8414" y="1536"/>
                    <a:pt x="3184" y="6844"/>
                    <a:pt x="2554" y="7488"/>
                  </a:cubicBezTo>
                  <a:cubicBezTo>
                    <a:pt x="1321" y="8748"/>
                    <a:pt x="828" y="9237"/>
                    <a:pt x="334" y="9881"/>
                  </a:cubicBezTo>
                  <a:cubicBezTo>
                    <a:pt x="-109" y="10463"/>
                    <a:pt x="-109" y="11132"/>
                    <a:pt x="316" y="11702"/>
                  </a:cubicBezTo>
                  <a:cubicBezTo>
                    <a:pt x="753" y="12284"/>
                    <a:pt x="1285" y="12826"/>
                    <a:pt x="2565" y="14124"/>
                  </a:cubicBezTo>
                  <a:cubicBezTo>
                    <a:pt x="2604" y="14163"/>
                    <a:pt x="7499" y="19144"/>
                    <a:pt x="8904" y="20576"/>
                  </a:cubicBezTo>
                  <a:cubicBezTo>
                    <a:pt x="9136" y="20812"/>
                    <a:pt x="9114" y="20794"/>
                    <a:pt x="9282" y="20956"/>
                  </a:cubicBezTo>
                  <a:cubicBezTo>
                    <a:pt x="9454" y="21118"/>
                    <a:pt x="9572" y="21222"/>
                    <a:pt x="9740" y="21334"/>
                  </a:cubicBezTo>
                  <a:cubicBezTo>
                    <a:pt x="9987" y="21496"/>
                    <a:pt x="10323" y="21600"/>
                    <a:pt x="10680" y="21600"/>
                  </a:cubicBezTo>
                  <a:cubicBezTo>
                    <a:pt x="11016" y="21600"/>
                    <a:pt x="11363" y="21521"/>
                    <a:pt x="11631" y="21334"/>
                  </a:cubicBezTo>
                  <a:cubicBezTo>
                    <a:pt x="11803" y="21215"/>
                    <a:pt x="11967" y="21065"/>
                    <a:pt x="12085" y="20954"/>
                  </a:cubicBezTo>
                  <a:cubicBezTo>
                    <a:pt x="12200" y="20845"/>
                    <a:pt x="12243" y="20801"/>
                    <a:pt x="12468" y="20574"/>
                  </a:cubicBezTo>
                  <a:cubicBezTo>
                    <a:pt x="12968" y="20064"/>
                    <a:pt x="18198" y="14756"/>
                    <a:pt x="18828" y="14112"/>
                  </a:cubicBezTo>
                  <a:cubicBezTo>
                    <a:pt x="20061" y="12852"/>
                    <a:pt x="20554" y="12363"/>
                    <a:pt x="21048" y="11719"/>
                  </a:cubicBezTo>
                  <a:cubicBezTo>
                    <a:pt x="21491" y="11137"/>
                    <a:pt x="21491" y="10468"/>
                    <a:pt x="21066" y="9898"/>
                  </a:cubicBezTo>
                  <a:cubicBezTo>
                    <a:pt x="20629" y="9316"/>
                    <a:pt x="20097" y="8774"/>
                    <a:pt x="18817" y="7476"/>
                  </a:cubicBezTo>
                  <a:cubicBezTo>
                    <a:pt x="18778" y="7437"/>
                    <a:pt x="13883" y="2456"/>
                    <a:pt x="12478" y="1024"/>
                  </a:cubicBezTo>
                  <a:close/>
                  <a:moveTo>
                    <a:pt x="17101" y="13934"/>
                  </a:moveTo>
                  <a:cubicBezTo>
                    <a:pt x="17079" y="14186"/>
                    <a:pt x="16922" y="14432"/>
                    <a:pt x="16654" y="14615"/>
                  </a:cubicBezTo>
                  <a:cubicBezTo>
                    <a:pt x="16364" y="14819"/>
                    <a:pt x="15950" y="14941"/>
                    <a:pt x="15524" y="14955"/>
                  </a:cubicBezTo>
                  <a:lnTo>
                    <a:pt x="5858" y="14955"/>
                  </a:lnTo>
                  <a:cubicBezTo>
                    <a:pt x="5461" y="14941"/>
                    <a:pt x="5071" y="14835"/>
                    <a:pt x="4785" y="14654"/>
                  </a:cubicBezTo>
                  <a:cubicBezTo>
                    <a:pt x="4485" y="14466"/>
                    <a:pt x="4303" y="14205"/>
                    <a:pt x="4281" y="13936"/>
                  </a:cubicBezTo>
                  <a:lnTo>
                    <a:pt x="4281" y="7669"/>
                  </a:lnTo>
                  <a:cubicBezTo>
                    <a:pt x="4303" y="7393"/>
                    <a:pt x="4492" y="7124"/>
                    <a:pt x="4807" y="6937"/>
                  </a:cubicBezTo>
                  <a:cubicBezTo>
                    <a:pt x="5089" y="6763"/>
                    <a:pt x="5468" y="6663"/>
                    <a:pt x="5854" y="6647"/>
                  </a:cubicBezTo>
                  <a:lnTo>
                    <a:pt x="15521" y="6647"/>
                  </a:lnTo>
                  <a:cubicBezTo>
                    <a:pt x="15889" y="6661"/>
                    <a:pt x="16250" y="6751"/>
                    <a:pt x="16529" y="6911"/>
                  </a:cubicBezTo>
                  <a:cubicBezTo>
                    <a:pt x="16869" y="7099"/>
                    <a:pt x="17072" y="7379"/>
                    <a:pt x="17097" y="7669"/>
                  </a:cubicBezTo>
                  <a:lnTo>
                    <a:pt x="17097" y="13934"/>
                  </a:lnTo>
                  <a:close/>
                </a:path>
              </a:pathLst>
            </a:custGeom>
            <a:solidFill>
              <a:srgbClr val="C11656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形状"/>
            <p:cNvSpPr/>
            <p:nvPr/>
          </p:nvSpPr>
          <p:spPr>
            <a:xfrm>
              <a:off x="128104" y="129198"/>
              <a:ext cx="105742" cy="105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3" extrusionOk="0">
                  <a:moveTo>
                    <a:pt x="20535" y="91"/>
                  </a:moveTo>
                  <a:cubicBezTo>
                    <a:pt x="20210" y="-33"/>
                    <a:pt x="19857" y="8"/>
                    <a:pt x="19518" y="2"/>
                  </a:cubicBezTo>
                  <a:cubicBezTo>
                    <a:pt x="13501" y="2"/>
                    <a:pt x="7484" y="2"/>
                    <a:pt x="1473" y="2"/>
                  </a:cubicBezTo>
                  <a:cubicBezTo>
                    <a:pt x="906" y="43"/>
                    <a:pt x="387" y="409"/>
                    <a:pt x="152" y="919"/>
                  </a:cubicBezTo>
                  <a:cubicBezTo>
                    <a:pt x="48" y="1133"/>
                    <a:pt x="0" y="1375"/>
                    <a:pt x="0" y="1609"/>
                  </a:cubicBezTo>
                  <a:cubicBezTo>
                    <a:pt x="0" y="7731"/>
                    <a:pt x="0" y="13859"/>
                    <a:pt x="0" y="19980"/>
                  </a:cubicBezTo>
                  <a:cubicBezTo>
                    <a:pt x="0" y="20704"/>
                    <a:pt x="560" y="21381"/>
                    <a:pt x="1273" y="21519"/>
                  </a:cubicBezTo>
                  <a:cubicBezTo>
                    <a:pt x="1487" y="21567"/>
                    <a:pt x="1708" y="21546"/>
                    <a:pt x="1923" y="21553"/>
                  </a:cubicBezTo>
                  <a:lnTo>
                    <a:pt x="19982" y="21553"/>
                  </a:lnTo>
                  <a:cubicBezTo>
                    <a:pt x="20431" y="21553"/>
                    <a:pt x="20881" y="21360"/>
                    <a:pt x="21185" y="21029"/>
                  </a:cubicBezTo>
                  <a:cubicBezTo>
                    <a:pt x="21455" y="20739"/>
                    <a:pt x="21600" y="20339"/>
                    <a:pt x="21600" y="19945"/>
                  </a:cubicBezTo>
                  <a:cubicBezTo>
                    <a:pt x="21600" y="13824"/>
                    <a:pt x="21600" y="7703"/>
                    <a:pt x="21600" y="1575"/>
                  </a:cubicBezTo>
                  <a:cubicBezTo>
                    <a:pt x="21600" y="919"/>
                    <a:pt x="21150" y="305"/>
                    <a:pt x="20535" y="91"/>
                  </a:cubicBezTo>
                  <a:close/>
                  <a:moveTo>
                    <a:pt x="8403" y="13790"/>
                  </a:moveTo>
                  <a:cubicBezTo>
                    <a:pt x="8403" y="14680"/>
                    <a:pt x="7919" y="15522"/>
                    <a:pt x="7207" y="16046"/>
                  </a:cubicBezTo>
                  <a:cubicBezTo>
                    <a:pt x="6598" y="16509"/>
                    <a:pt x="5831" y="16750"/>
                    <a:pt x="5063" y="16764"/>
                  </a:cubicBezTo>
                  <a:cubicBezTo>
                    <a:pt x="4710" y="16764"/>
                    <a:pt x="4357" y="16764"/>
                    <a:pt x="3998" y="16764"/>
                  </a:cubicBezTo>
                  <a:cubicBezTo>
                    <a:pt x="3998" y="16233"/>
                    <a:pt x="3998" y="15701"/>
                    <a:pt x="3998" y="15170"/>
                  </a:cubicBezTo>
                  <a:cubicBezTo>
                    <a:pt x="4350" y="15170"/>
                    <a:pt x="4710" y="15170"/>
                    <a:pt x="5063" y="15170"/>
                  </a:cubicBezTo>
                  <a:cubicBezTo>
                    <a:pt x="5609" y="15156"/>
                    <a:pt x="6163" y="14873"/>
                    <a:pt x="6432" y="14390"/>
                  </a:cubicBezTo>
                  <a:cubicBezTo>
                    <a:pt x="6619" y="14086"/>
                    <a:pt x="6598" y="13721"/>
                    <a:pt x="6598" y="13376"/>
                  </a:cubicBezTo>
                  <a:cubicBezTo>
                    <a:pt x="6239" y="13376"/>
                    <a:pt x="5886" y="13376"/>
                    <a:pt x="5526" y="13376"/>
                  </a:cubicBezTo>
                  <a:cubicBezTo>
                    <a:pt x="5125" y="13376"/>
                    <a:pt x="4710" y="13410"/>
                    <a:pt x="4323" y="13258"/>
                  </a:cubicBezTo>
                  <a:cubicBezTo>
                    <a:pt x="3562" y="12996"/>
                    <a:pt x="3002" y="12237"/>
                    <a:pt x="2995" y="11436"/>
                  </a:cubicBezTo>
                  <a:cubicBezTo>
                    <a:pt x="2995" y="9891"/>
                    <a:pt x="2995" y="8345"/>
                    <a:pt x="2995" y="6799"/>
                  </a:cubicBezTo>
                  <a:cubicBezTo>
                    <a:pt x="2995" y="6288"/>
                    <a:pt x="3195" y="5778"/>
                    <a:pt x="3548" y="5412"/>
                  </a:cubicBezTo>
                  <a:cubicBezTo>
                    <a:pt x="3915" y="5025"/>
                    <a:pt x="4447" y="4798"/>
                    <a:pt x="4980" y="4798"/>
                  </a:cubicBezTo>
                  <a:cubicBezTo>
                    <a:pt x="6121" y="4798"/>
                    <a:pt x="7255" y="4798"/>
                    <a:pt x="8397" y="4798"/>
                  </a:cubicBezTo>
                  <a:cubicBezTo>
                    <a:pt x="8397" y="7800"/>
                    <a:pt x="8397" y="10795"/>
                    <a:pt x="8397" y="13797"/>
                  </a:cubicBezTo>
                  <a:close/>
                  <a:moveTo>
                    <a:pt x="18398" y="16757"/>
                  </a:moveTo>
                  <a:cubicBezTo>
                    <a:pt x="15465" y="16757"/>
                    <a:pt x="12533" y="16757"/>
                    <a:pt x="9600" y="16757"/>
                  </a:cubicBezTo>
                  <a:cubicBezTo>
                    <a:pt x="9600" y="16226"/>
                    <a:pt x="9600" y="15694"/>
                    <a:pt x="9600" y="15163"/>
                  </a:cubicBezTo>
                  <a:cubicBezTo>
                    <a:pt x="12533" y="15163"/>
                    <a:pt x="15465" y="15163"/>
                    <a:pt x="18398" y="15163"/>
                  </a:cubicBezTo>
                  <a:cubicBezTo>
                    <a:pt x="18398" y="15694"/>
                    <a:pt x="18398" y="16226"/>
                    <a:pt x="18398" y="16757"/>
                  </a:cubicBezTo>
                  <a:close/>
                  <a:moveTo>
                    <a:pt x="18598" y="13369"/>
                  </a:moveTo>
                  <a:cubicBezTo>
                    <a:pt x="17997" y="13369"/>
                    <a:pt x="17402" y="13369"/>
                    <a:pt x="16800" y="13369"/>
                  </a:cubicBezTo>
                  <a:cubicBezTo>
                    <a:pt x="16800" y="11243"/>
                    <a:pt x="16800" y="9111"/>
                    <a:pt x="16800" y="6985"/>
                  </a:cubicBezTo>
                  <a:cubicBezTo>
                    <a:pt x="16807" y="6661"/>
                    <a:pt x="16516" y="6371"/>
                    <a:pt x="16191" y="6385"/>
                  </a:cubicBezTo>
                  <a:cubicBezTo>
                    <a:pt x="15797" y="6385"/>
                    <a:pt x="15396" y="6385"/>
                    <a:pt x="15002" y="6385"/>
                  </a:cubicBezTo>
                  <a:cubicBezTo>
                    <a:pt x="15002" y="8711"/>
                    <a:pt x="15002" y="11043"/>
                    <a:pt x="15002" y="13369"/>
                  </a:cubicBezTo>
                  <a:cubicBezTo>
                    <a:pt x="14400" y="13369"/>
                    <a:pt x="13805" y="13369"/>
                    <a:pt x="13203" y="13369"/>
                  </a:cubicBezTo>
                  <a:cubicBezTo>
                    <a:pt x="13203" y="11043"/>
                    <a:pt x="13203" y="8711"/>
                    <a:pt x="13203" y="6385"/>
                  </a:cubicBezTo>
                  <a:cubicBezTo>
                    <a:pt x="12602" y="6385"/>
                    <a:pt x="12007" y="6385"/>
                    <a:pt x="11405" y="6385"/>
                  </a:cubicBezTo>
                  <a:cubicBezTo>
                    <a:pt x="11405" y="8711"/>
                    <a:pt x="11405" y="11043"/>
                    <a:pt x="11405" y="13369"/>
                  </a:cubicBezTo>
                  <a:lnTo>
                    <a:pt x="9607" y="13369"/>
                  </a:lnTo>
                  <a:cubicBezTo>
                    <a:pt x="9607" y="10512"/>
                    <a:pt x="9607" y="7648"/>
                    <a:pt x="9607" y="4791"/>
                  </a:cubicBezTo>
                  <a:cubicBezTo>
                    <a:pt x="11945" y="4791"/>
                    <a:pt x="14282" y="4791"/>
                    <a:pt x="16620" y="4791"/>
                  </a:cubicBezTo>
                  <a:cubicBezTo>
                    <a:pt x="17139" y="4791"/>
                    <a:pt x="17644" y="5005"/>
                    <a:pt x="18010" y="5364"/>
                  </a:cubicBezTo>
                  <a:cubicBezTo>
                    <a:pt x="18391" y="5736"/>
                    <a:pt x="18612" y="6261"/>
                    <a:pt x="18605" y="6792"/>
                  </a:cubicBezTo>
                  <a:cubicBezTo>
                    <a:pt x="18605" y="8987"/>
                    <a:pt x="18605" y="11174"/>
                    <a:pt x="18605" y="13369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4" name="形状"/>
            <p:cNvSpPr/>
            <p:nvPr/>
          </p:nvSpPr>
          <p:spPr>
            <a:xfrm>
              <a:off x="151599" y="160491"/>
              <a:ext cx="8841" cy="26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2" h="21600" extrusionOk="0">
                  <a:moveTo>
                    <a:pt x="6" y="2434"/>
                  </a:moveTo>
                  <a:cubicBezTo>
                    <a:pt x="6" y="8020"/>
                    <a:pt x="6" y="13607"/>
                    <a:pt x="6" y="19166"/>
                  </a:cubicBezTo>
                  <a:cubicBezTo>
                    <a:pt x="-158" y="20411"/>
                    <a:pt x="3045" y="21572"/>
                    <a:pt x="6823" y="21600"/>
                  </a:cubicBezTo>
                  <a:cubicBezTo>
                    <a:pt x="11669" y="21600"/>
                    <a:pt x="16514" y="21600"/>
                    <a:pt x="21442" y="21600"/>
                  </a:cubicBezTo>
                  <a:cubicBezTo>
                    <a:pt x="21442" y="14409"/>
                    <a:pt x="21442" y="7218"/>
                    <a:pt x="21442" y="0"/>
                  </a:cubicBezTo>
                  <a:cubicBezTo>
                    <a:pt x="16596" y="0"/>
                    <a:pt x="11751" y="0"/>
                    <a:pt x="6905" y="0"/>
                  </a:cubicBezTo>
                  <a:cubicBezTo>
                    <a:pt x="3209" y="0"/>
                    <a:pt x="-76" y="1162"/>
                    <a:pt x="88" y="2406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5" name="形状"/>
            <p:cNvSpPr/>
            <p:nvPr/>
          </p:nvSpPr>
          <p:spPr>
            <a:xfrm>
              <a:off x="0" y="0"/>
              <a:ext cx="359361" cy="194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512" y="21577"/>
                  </a:moveTo>
                  <a:cubicBezTo>
                    <a:pt x="638" y="21592"/>
                    <a:pt x="894" y="21600"/>
                    <a:pt x="1012" y="21600"/>
                  </a:cubicBezTo>
                  <a:lnTo>
                    <a:pt x="4193" y="21600"/>
                  </a:lnTo>
                  <a:cubicBezTo>
                    <a:pt x="4223" y="21600"/>
                    <a:pt x="4238" y="21600"/>
                    <a:pt x="4248" y="21589"/>
                  </a:cubicBezTo>
                  <a:cubicBezTo>
                    <a:pt x="4270" y="21570"/>
                    <a:pt x="4276" y="21528"/>
                    <a:pt x="4270" y="21491"/>
                  </a:cubicBezTo>
                  <a:cubicBezTo>
                    <a:pt x="4268" y="21476"/>
                    <a:pt x="4264" y="21457"/>
                    <a:pt x="4256" y="21434"/>
                  </a:cubicBezTo>
                  <a:cubicBezTo>
                    <a:pt x="4195" y="21257"/>
                    <a:pt x="3861" y="20289"/>
                    <a:pt x="3843" y="20237"/>
                  </a:cubicBezTo>
                  <a:cubicBezTo>
                    <a:pt x="3823" y="20180"/>
                    <a:pt x="3796" y="20109"/>
                    <a:pt x="3768" y="20048"/>
                  </a:cubicBezTo>
                  <a:cubicBezTo>
                    <a:pt x="3729" y="19969"/>
                    <a:pt x="3694" y="19913"/>
                    <a:pt x="3648" y="19875"/>
                  </a:cubicBezTo>
                  <a:cubicBezTo>
                    <a:pt x="3599" y="19834"/>
                    <a:pt x="3523" y="19811"/>
                    <a:pt x="3418" y="19807"/>
                  </a:cubicBezTo>
                  <a:cubicBezTo>
                    <a:pt x="3357" y="19807"/>
                    <a:pt x="3275" y="19803"/>
                    <a:pt x="3192" y="19803"/>
                  </a:cubicBezTo>
                  <a:cubicBezTo>
                    <a:pt x="2907" y="19803"/>
                    <a:pt x="1922" y="19803"/>
                    <a:pt x="1664" y="19803"/>
                  </a:cubicBezTo>
                  <a:cubicBezTo>
                    <a:pt x="1611" y="19803"/>
                    <a:pt x="1607" y="19803"/>
                    <a:pt x="1568" y="19803"/>
                  </a:cubicBezTo>
                  <a:cubicBezTo>
                    <a:pt x="1470" y="19796"/>
                    <a:pt x="1399" y="19675"/>
                    <a:pt x="1389" y="19491"/>
                  </a:cubicBezTo>
                  <a:cubicBezTo>
                    <a:pt x="1387" y="19434"/>
                    <a:pt x="1389" y="19355"/>
                    <a:pt x="1389" y="19325"/>
                  </a:cubicBezTo>
                  <a:cubicBezTo>
                    <a:pt x="1389" y="19231"/>
                    <a:pt x="1393" y="19133"/>
                    <a:pt x="1395" y="19039"/>
                  </a:cubicBezTo>
                  <a:cubicBezTo>
                    <a:pt x="1664" y="9299"/>
                    <a:pt x="6016" y="1556"/>
                    <a:pt x="11343" y="1556"/>
                  </a:cubicBezTo>
                  <a:cubicBezTo>
                    <a:pt x="16146" y="1556"/>
                    <a:pt x="20152" y="7842"/>
                    <a:pt x="21096" y="16210"/>
                  </a:cubicBezTo>
                  <a:lnTo>
                    <a:pt x="21597" y="16210"/>
                  </a:lnTo>
                  <a:cubicBezTo>
                    <a:pt x="21461" y="14964"/>
                    <a:pt x="21261" y="13758"/>
                    <a:pt x="21007" y="12606"/>
                  </a:cubicBezTo>
                  <a:cubicBezTo>
                    <a:pt x="19375" y="5213"/>
                    <a:pt x="15454" y="0"/>
                    <a:pt x="10871" y="0"/>
                  </a:cubicBezTo>
                  <a:cubicBezTo>
                    <a:pt x="7048" y="0"/>
                    <a:pt x="3682" y="3631"/>
                    <a:pt x="1725" y="9133"/>
                  </a:cubicBezTo>
                  <a:cubicBezTo>
                    <a:pt x="693" y="12105"/>
                    <a:pt x="70" y="15612"/>
                    <a:pt x="3" y="19374"/>
                  </a:cubicBezTo>
                  <a:cubicBezTo>
                    <a:pt x="-1" y="19600"/>
                    <a:pt x="-3" y="20206"/>
                    <a:pt x="11" y="20579"/>
                  </a:cubicBezTo>
                  <a:cubicBezTo>
                    <a:pt x="21" y="20858"/>
                    <a:pt x="30" y="21167"/>
                    <a:pt x="150" y="21370"/>
                  </a:cubicBezTo>
                  <a:cubicBezTo>
                    <a:pt x="251" y="21544"/>
                    <a:pt x="371" y="21566"/>
                    <a:pt x="506" y="21585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6" name="形状"/>
            <p:cNvSpPr/>
            <p:nvPr/>
          </p:nvSpPr>
          <p:spPr>
            <a:xfrm>
              <a:off x="2589" y="169903"/>
              <a:ext cx="359362" cy="194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580" y="1028"/>
                  </a:moveTo>
                  <a:cubicBezTo>
                    <a:pt x="21569" y="750"/>
                    <a:pt x="21561" y="441"/>
                    <a:pt x="21441" y="237"/>
                  </a:cubicBezTo>
                  <a:cubicBezTo>
                    <a:pt x="21340" y="64"/>
                    <a:pt x="21219" y="41"/>
                    <a:pt x="21085" y="23"/>
                  </a:cubicBezTo>
                  <a:cubicBezTo>
                    <a:pt x="20959" y="8"/>
                    <a:pt x="20703" y="0"/>
                    <a:pt x="20585" y="0"/>
                  </a:cubicBezTo>
                  <a:lnTo>
                    <a:pt x="17404" y="0"/>
                  </a:lnTo>
                  <a:cubicBezTo>
                    <a:pt x="17374" y="0"/>
                    <a:pt x="17359" y="0"/>
                    <a:pt x="17349" y="11"/>
                  </a:cubicBezTo>
                  <a:cubicBezTo>
                    <a:pt x="17327" y="30"/>
                    <a:pt x="17321" y="72"/>
                    <a:pt x="17327" y="109"/>
                  </a:cubicBezTo>
                  <a:cubicBezTo>
                    <a:pt x="17329" y="124"/>
                    <a:pt x="17333" y="143"/>
                    <a:pt x="17341" y="166"/>
                  </a:cubicBezTo>
                  <a:cubicBezTo>
                    <a:pt x="17402" y="343"/>
                    <a:pt x="17736" y="1311"/>
                    <a:pt x="17754" y="1363"/>
                  </a:cubicBezTo>
                  <a:cubicBezTo>
                    <a:pt x="17774" y="1420"/>
                    <a:pt x="17801" y="1491"/>
                    <a:pt x="17829" y="1552"/>
                  </a:cubicBezTo>
                  <a:cubicBezTo>
                    <a:pt x="17868" y="1631"/>
                    <a:pt x="17903" y="1687"/>
                    <a:pt x="17949" y="1725"/>
                  </a:cubicBezTo>
                  <a:cubicBezTo>
                    <a:pt x="17998" y="1766"/>
                    <a:pt x="18074" y="1789"/>
                    <a:pt x="18179" y="1793"/>
                  </a:cubicBezTo>
                  <a:cubicBezTo>
                    <a:pt x="18240" y="1793"/>
                    <a:pt x="18322" y="1797"/>
                    <a:pt x="18405" y="1797"/>
                  </a:cubicBezTo>
                  <a:cubicBezTo>
                    <a:pt x="18690" y="1797"/>
                    <a:pt x="19675" y="1797"/>
                    <a:pt x="19933" y="1797"/>
                  </a:cubicBezTo>
                  <a:cubicBezTo>
                    <a:pt x="19986" y="1797"/>
                    <a:pt x="19990" y="1797"/>
                    <a:pt x="20029" y="1797"/>
                  </a:cubicBezTo>
                  <a:cubicBezTo>
                    <a:pt x="20127" y="1804"/>
                    <a:pt x="20198" y="1925"/>
                    <a:pt x="20208" y="2109"/>
                  </a:cubicBezTo>
                  <a:cubicBezTo>
                    <a:pt x="20210" y="2166"/>
                    <a:pt x="20208" y="2245"/>
                    <a:pt x="20208" y="2275"/>
                  </a:cubicBezTo>
                  <a:cubicBezTo>
                    <a:pt x="20208" y="2369"/>
                    <a:pt x="20204" y="2467"/>
                    <a:pt x="20202" y="2561"/>
                  </a:cubicBezTo>
                  <a:cubicBezTo>
                    <a:pt x="19933" y="12301"/>
                    <a:pt x="15581" y="20044"/>
                    <a:pt x="10254" y="20044"/>
                  </a:cubicBezTo>
                  <a:cubicBezTo>
                    <a:pt x="5451" y="20044"/>
                    <a:pt x="1445" y="13758"/>
                    <a:pt x="501" y="5390"/>
                  </a:cubicBezTo>
                  <a:lnTo>
                    <a:pt x="0" y="5390"/>
                  </a:lnTo>
                  <a:cubicBezTo>
                    <a:pt x="136" y="6636"/>
                    <a:pt x="336" y="7842"/>
                    <a:pt x="590" y="8994"/>
                  </a:cubicBezTo>
                  <a:cubicBezTo>
                    <a:pt x="2222" y="16387"/>
                    <a:pt x="6143" y="21600"/>
                    <a:pt x="10726" y="21600"/>
                  </a:cubicBezTo>
                  <a:cubicBezTo>
                    <a:pt x="14549" y="21600"/>
                    <a:pt x="17915" y="17969"/>
                    <a:pt x="19872" y="12467"/>
                  </a:cubicBezTo>
                  <a:cubicBezTo>
                    <a:pt x="20904" y="9495"/>
                    <a:pt x="21527" y="5988"/>
                    <a:pt x="21594" y="2226"/>
                  </a:cubicBezTo>
                  <a:cubicBezTo>
                    <a:pt x="21598" y="2000"/>
                    <a:pt x="21600" y="1394"/>
                    <a:pt x="21586" y="1021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916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 spd="med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1pPr>
      <a:lvl2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2pPr>
      <a:lvl3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3pPr>
      <a:lvl4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4pPr>
      <a:lvl5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5pPr>
      <a:lvl6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6pPr>
      <a:lvl7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7pPr>
      <a:lvl8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8pPr>
      <a:lvl9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9pPr>
    </p:titleStyle>
    <p:bodyStyle>
      <a:lvl1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1pPr>
      <a:lvl2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2pPr>
      <a:lvl3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3pPr>
      <a:lvl4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4pPr>
      <a:lvl5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5pPr>
      <a:lvl6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6pPr>
      <a:lvl7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7pPr>
      <a:lvl8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8pPr>
      <a:lvl9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9pPr>
    </p:bodyStyle>
    <p:otherStyle>
      <a:lvl1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1pPr>
      <a:lvl2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2pPr>
      <a:lvl3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3pPr>
      <a:lvl4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4pPr>
      <a:lvl5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5pPr>
      <a:lvl6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6pPr>
      <a:lvl7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7pPr>
      <a:lvl8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8pPr>
      <a:lvl9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CD2D-0E52-D87B-D5BF-1D29F50C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8C8CA84-0EF3-2A78-DACE-AC0C8B326EA9}"/>
              </a:ext>
            </a:extLst>
          </p:cNvPr>
          <p:cNvSpPr txBox="1"/>
          <p:nvPr/>
        </p:nvSpPr>
        <p:spPr>
          <a:xfrm>
            <a:off x="698500" y="207554"/>
            <a:ext cx="10414000" cy="609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2200" b="1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华境</a:t>
            </a:r>
            <a:r>
              <a:rPr lang="en-US" altLang="zh-CN" sz="2200" b="1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200" b="1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用户更年轻、配置向长续航两驱集中，决策更加依赖真实口碑</a:t>
            </a:r>
            <a:endParaRPr kumimoji="0" lang="zh-CN" altLang="en-US" sz="2200" b="1" i="0" u="none" strike="noStrike" cap="none" spc="0" normalizeH="0" dirty="0">
              <a:ln>
                <a:noFill/>
              </a:ln>
              <a:solidFill>
                <a:srgbClr val="07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3FE583-3C1D-CDE7-E464-3E2A570936D8}"/>
              </a:ext>
            </a:extLst>
          </p:cNvPr>
          <p:cNvSpPr txBox="1"/>
          <p:nvPr/>
        </p:nvSpPr>
        <p:spPr>
          <a:xfrm>
            <a:off x="698500" y="1008260"/>
            <a:ext cx="10711906" cy="6242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日，华境</a:t>
            </a:r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用户画像收集</a:t>
            </a:r>
            <a:r>
              <a:rPr lang="en-US" altLang="zh-CN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3,989</a:t>
            </a:r>
            <a:r>
              <a:rPr lang="zh-CN" altLang="en-US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2,242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份、</a:t>
            </a:r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1,526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份；另以</a:t>
            </a:r>
            <a:r>
              <a:rPr lang="en-US" altLang="zh-CN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12,802</a:t>
            </a:r>
            <a:r>
              <a:rPr lang="zh-CN" altLang="en-US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6—7</a:t>
            </a:r>
            <a:r>
              <a:rPr lang="zh-CN" altLang="en-US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月全量开票记录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验证地区与车型结论。</a:t>
            </a:r>
          </a:p>
          <a:p>
            <a:r>
              <a:rPr lang="en-US" altLang="zh-CN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月用户更年轻，智驾新手增加，对华为态度更理性；</a:t>
            </a:r>
            <a:r>
              <a:rPr lang="en-US" altLang="zh-CN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255km</a:t>
            </a:r>
            <a:r>
              <a:rPr lang="zh-CN" altLang="en-US" sz="12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乾崑尊享版集中度提升</a:t>
            </a: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，真实口碑和榜单的重要性上升。</a:t>
            </a:r>
            <a:endParaRPr lang="zh-CN" altLang="en-US" sz="1250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67FCAFE-27A1-FE1C-364C-63F6C6A74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707783"/>
              </p:ext>
            </p:extLst>
          </p:nvPr>
        </p:nvGraphicFramePr>
        <p:xfrm>
          <a:off x="751296" y="2385180"/>
          <a:ext cx="10606314" cy="378993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06995">
                  <a:extLst>
                    <a:ext uri="{9D8B030D-6E8A-4147-A177-3AD203B41FA5}">
                      <a16:colId xmlns:a16="http://schemas.microsoft.com/office/drawing/2014/main" val="3973247269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3830385396"/>
                    </a:ext>
                  </a:extLst>
                </a:gridCol>
                <a:gridCol w="6093279">
                  <a:extLst>
                    <a:ext uri="{9D8B030D-6E8A-4147-A177-3AD203B41FA5}">
                      <a16:colId xmlns:a16="http://schemas.microsoft.com/office/drawing/2014/main" val="1686105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</a:t>
                      </a:r>
                      <a:endParaRPr lang="zh-CN" altLang="en-US" sz="1400" b="1" baseline="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7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核心判断</a:t>
                      </a:r>
                      <a:endParaRPr lang="zh-CN" altLang="en-US" sz="1400" b="1" baseline="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7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关键变化与证据</a:t>
                      </a:r>
                      <a:endParaRPr lang="zh-CN" altLang="en-US" sz="1400" b="1" baseline="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7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91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60" b="1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客群更年轻，区域扩展需谨慎</a:t>
                      </a:r>
                      <a:endParaRPr lang="zh-CN" altLang="en-US" sz="106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年龄变化明确；新一线、西南扩展在全量中仅为小幅</a:t>
                      </a:r>
                      <a:endParaRPr lang="zh-CN" altLang="en-US" sz="95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调研：</a:t>
                      </a:r>
                      <a:r>
                        <a:rPr lang="en-US" altLang="zh-CN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岁及以下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+7.6pp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，新一线</a:t>
                      </a:r>
                      <a:r>
                        <a:rPr lang="en-US" altLang="zh-CN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西南各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+5.4pp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；开票：新一线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+1.1pp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，西南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+1.0pp</a:t>
                      </a:r>
                      <a:endParaRPr lang="zh-CN" altLang="en-US" sz="950" b="1" baseline="0" dirty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66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12750" eaLnBrk="1" fontAlgn="auto" latinLnBrk="0" hangingPunct="1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60" b="1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主销配置向两驱尊享集中</a:t>
                      </a:r>
                      <a:endParaRPr lang="zh-CN" altLang="en-US" sz="106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调研与全量开票方向一致，但全量变化幅度较小</a:t>
                      </a:r>
                      <a:endParaRPr lang="zh-CN" altLang="en-US" sz="95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255km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尊享：调研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+14.8pp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、开票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+6.8pp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；四驱尊享：调研</a:t>
                      </a:r>
                      <a:r>
                        <a:rPr lang="en-US" altLang="zh-CN" sz="950" b="1" baseline="0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-15.6pp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、开票</a:t>
                      </a:r>
                      <a:r>
                        <a:rPr lang="en-US" altLang="zh-CN" sz="950" b="1" baseline="0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-7.6pp</a:t>
                      </a:r>
                      <a:endParaRPr lang="zh-CN" altLang="en-US" sz="950" b="1" baseline="0" dirty="0">
                        <a:solidFill>
                          <a:srgbClr val="D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78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60" b="1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智驾入门化特征增强</a:t>
                      </a:r>
                      <a:endParaRPr lang="zh-CN" altLang="en-US" sz="106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需要承担更多智驾启蒙和信任建立工作</a:t>
                      </a:r>
                      <a:endParaRPr lang="zh-CN" altLang="en-US" sz="95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从未体验智驾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+4.6pp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；轻度依赖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+3.7pp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；重度依赖</a:t>
                      </a:r>
                      <a:r>
                        <a:rPr lang="en-US" altLang="zh-CN" sz="950" b="1" baseline="0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-4.0pp</a:t>
                      </a:r>
                      <a:endParaRPr lang="zh-CN" altLang="en-US" sz="950" b="1" baseline="0" dirty="0">
                        <a:solidFill>
                          <a:srgbClr val="D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680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60" b="1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华为影响仍强，态度更理性</a:t>
                      </a:r>
                      <a:endParaRPr lang="zh-CN" altLang="en-US" sz="106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i="0" u="none" strike="noStrike" cap="none" spc="0" baseline="0">
                          <a:solidFill>
                            <a:srgbClr val="07182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品牌号召力仍在，但用户更看重整车体验与家庭价值</a:t>
                      </a:r>
                      <a:endParaRPr lang="zh-CN" altLang="en-US" sz="950" b="0" i="0" u="none" strike="noStrike" cap="none" spc="0" baseline="0" dirty="0">
                        <a:solidFill>
                          <a:srgbClr val="07182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 panose="020B0604020202090204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i="0" u="none" strike="noStrike" cap="none" spc="0" baseline="0">
                          <a:solidFill>
                            <a:srgbClr val="07182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决定性影响</a:t>
                      </a:r>
                      <a:r>
                        <a:rPr lang="en-US" altLang="zh-CN" sz="950" b="1" i="0" u="none" strike="noStrike" cap="none" spc="0" baseline="0">
                          <a:solidFill>
                            <a:srgbClr val="D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-2.5pp</a:t>
                      </a:r>
                      <a:r>
                        <a:rPr lang="zh-CN" altLang="en-US" sz="950" b="0" i="0" u="none" strike="noStrike" cap="none" spc="0" baseline="0">
                          <a:solidFill>
                            <a:srgbClr val="07182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；生态偏好型</a:t>
                      </a:r>
                      <a:r>
                        <a:rPr lang="en-US" altLang="zh-CN" sz="950" b="1" i="0" u="none" strike="noStrike" cap="none" spc="0" baseline="0">
                          <a:solidFill>
                            <a:srgbClr val="D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-3.8pp</a:t>
                      </a:r>
                      <a:r>
                        <a:rPr lang="zh-CN" altLang="en-US" sz="950" b="0" i="0" u="none" strike="noStrike" cap="none" spc="0" baseline="0">
                          <a:solidFill>
                            <a:srgbClr val="07182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；理性支持型</a:t>
                      </a:r>
                      <a:r>
                        <a:rPr lang="en-US" altLang="zh-CN" sz="950" b="1" i="0" u="none" strike="noStrike" cap="none" spc="0" baseline="0">
                          <a:solidFill>
                            <a:srgbClr val="00B05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90204"/>
                        </a:rPr>
                        <a:t>+4.6pp</a:t>
                      </a:r>
                      <a:endParaRPr lang="zh-CN" altLang="en-US" sz="950" b="1" i="0" u="none" strike="noStrike" cap="none" spc="0" baseline="0" dirty="0">
                        <a:solidFill>
                          <a:srgbClr val="00B05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 panose="020B0604020202090204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2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60" b="1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决策信任转向真实证据</a:t>
                      </a:r>
                      <a:endParaRPr lang="zh-CN" altLang="en-US" sz="106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官方广告减弱，口碑和榜单增强；推荐意愿保持高位</a:t>
                      </a:r>
                      <a:endParaRPr lang="zh-CN" altLang="en-US" sz="95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官方广告</a:t>
                      </a:r>
                      <a:r>
                        <a:rPr lang="en-US" altLang="zh-CN" sz="950" b="1" baseline="0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-5.5pp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；车主口碑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+4.2pp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；榜单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+2.8pp</a:t>
                      </a:r>
                      <a:r>
                        <a:rPr lang="zh-CN" altLang="en-US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；推荐意愿</a:t>
                      </a:r>
                      <a:r>
                        <a:rPr lang="en-US" altLang="zh-CN" sz="950" b="0" baseline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94.9%→</a:t>
                      </a:r>
                      <a:r>
                        <a:rPr lang="en-US" altLang="zh-CN" sz="950" b="1" baseline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95.9%</a:t>
                      </a:r>
                      <a:endParaRPr lang="zh-CN" altLang="en-US" sz="950" b="1" baseline="0" dirty="0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9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13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220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华境</a:t>
            </a:r>
            <a:r>
              <a:rPr lang="en-US" altLang="zh-CN" sz="220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</a:t>
            </a:r>
            <a:r>
              <a:rPr lang="zh-CN" altLang="en-US" sz="220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用户更年轻；新一线、西南扩展经全量验证后仅为小幅</a:t>
            </a:r>
            <a:endParaRPr kumimoji="0" lang="zh-CN" altLang="en-US" sz="22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F82C8D-C484-53E1-0733-4195CF7EE2A8}"/>
              </a:ext>
            </a:extLst>
          </p:cNvPr>
          <p:cNvSpPr txBox="1"/>
          <p:nvPr/>
        </p:nvSpPr>
        <p:spPr>
          <a:xfrm>
            <a:off x="825500" y="990600"/>
            <a:ext cx="10541000" cy="2078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23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调研样本显示</a:t>
            </a:r>
            <a:r>
              <a:rPr lang="en-US" altLang="zh-CN" sz="123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sz="123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岁及以下提升</a:t>
            </a:r>
            <a:r>
              <a:rPr lang="en-US" altLang="zh-CN" sz="123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7.6pp</a:t>
            </a:r>
            <a:r>
              <a:rPr lang="zh-CN" altLang="en-US" sz="123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；全量开票显示新一线占比</a:t>
            </a:r>
            <a:r>
              <a:rPr lang="en-US" altLang="zh-CN" sz="123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24.2%→25.3%</a:t>
            </a:r>
            <a:r>
              <a:rPr lang="zh-CN" altLang="en-US" sz="123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、西南</a:t>
            </a:r>
            <a:r>
              <a:rPr lang="en-US" altLang="zh-CN" sz="123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10.8%→11.8%</a:t>
            </a:r>
            <a:r>
              <a:rPr lang="zh-CN" altLang="en-US" sz="123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，方向一致但幅度明显小于调研样本。</a:t>
            </a:r>
            <a:endParaRPr lang="zh-CN" altLang="en-US" sz="1230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905AA44-A134-A317-45FF-436E6C3D7E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494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55E65A5-ADB3-7117-963F-A73B0D29CB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5494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8329FD1-FCEC-5C45-98F6-8384983C4C2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41402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58569BD-AB90-67EA-F42B-00AB81846FC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41402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F8D2E96-7BAE-F553-4892-D5B985894D27}"/>
              </a:ext>
            </a:extLst>
          </p:cNvPr>
          <p:cNvSpPr/>
          <p:nvPr/>
        </p:nvSpPr>
        <p:spPr>
          <a:xfrm>
            <a:off x="8445500" y="1368390"/>
            <a:ext cx="2603500" cy="298521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006994"/>
            </a:solidFill>
          </a:ln>
        </p:spPr>
        <p:txBody>
          <a:bodyPr wrap="square" rtlCol="0" anchor="ctr">
            <a:spAutoFit/>
          </a:bodyPr>
          <a:lstStyle/>
          <a:p>
            <a:pPr algn="ctr" defTabSz="457200"/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00699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全量验证：新一线仅</a:t>
            </a: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00699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+1.1pp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99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4A07B3A-7B02-961F-12C1-A3A10542B63C}"/>
              </a:ext>
            </a:extLst>
          </p:cNvPr>
          <p:cNvSpPr/>
          <p:nvPr/>
        </p:nvSpPr>
        <p:spPr>
          <a:xfrm>
            <a:off x="2413000" y="3959190"/>
            <a:ext cx="2413000" cy="298521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006994"/>
            </a:solidFill>
          </a:ln>
        </p:spPr>
        <p:txBody>
          <a:bodyPr wrap="square" rtlCol="0" anchor="ctr">
            <a:spAutoFit/>
          </a:bodyPr>
          <a:lstStyle/>
          <a:p>
            <a:pPr algn="ctr" defTabSz="457200"/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00699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全量验证：西南仅</a:t>
            </a: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00699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+1.0pp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99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5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altLang="zh-CN" sz="22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255km</a:t>
            </a:r>
            <a:r>
              <a:rPr kumimoji="0" lang="zh-CN" altLang="en-US" sz="22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乾崑尊享版成为主销核心，全量开票验证方向一致</a:t>
            </a:r>
            <a:endParaRPr kumimoji="0" lang="zh-CN" altLang="en-US" sz="22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7CC96-9157-35F8-96AA-B6512C9D1E22}"/>
              </a:ext>
            </a:extLst>
          </p:cNvPr>
          <p:cNvSpPr txBox="1"/>
          <p:nvPr/>
        </p:nvSpPr>
        <p:spPr>
          <a:xfrm>
            <a:off x="825500" y="1016000"/>
            <a:ext cx="10541000" cy="2112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25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调研显示两驱尊享版集中度大幅提升；全量开票同样上升，但变化更温和，说明方向可靠、幅度需以业务全量为准。</a:t>
            </a:r>
            <a:endParaRPr lang="zh-CN" altLang="en-US" sz="1250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28647C-EA6F-0535-373B-EE7C2925E4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739900"/>
            <a:ext cx="6477000" cy="32385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7423E4C-8FE6-CC69-DBC5-68DA0F8CB535}"/>
              </a:ext>
            </a:extLst>
          </p:cNvPr>
          <p:cNvSpPr/>
          <p:nvPr/>
        </p:nvSpPr>
        <p:spPr>
          <a:xfrm>
            <a:off x="889000" y="1508090"/>
            <a:ext cx="2413000" cy="298521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006994"/>
            </a:solidFill>
          </a:ln>
        </p:spPr>
        <p:txBody>
          <a:bodyPr wrap="square" rtlCol="0" anchor="ctr">
            <a:spAutoFit/>
          </a:bodyPr>
          <a:lstStyle/>
          <a:p>
            <a:pPr algn="ctr" defTabSz="457200"/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00699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调研：两驱尊享 </a:t>
            </a: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00699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+14.8pp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99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BF6FDCB-8AFA-F88B-0028-DA19BF035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734083"/>
              </p:ext>
            </p:extLst>
          </p:nvPr>
        </p:nvGraphicFramePr>
        <p:xfrm>
          <a:off x="7366000" y="1765300"/>
          <a:ext cx="4191000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87898561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4257834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271835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327185806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全量开票车型</a:t>
                      </a:r>
                    </a:p>
                  </a:txBody>
                  <a:tcPr marL="88900" marR="88900" marT="50800" marB="38100" anchor="ctr">
                    <a:solidFill>
                      <a:srgbClr val="1E37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88900" marR="88900" marT="50800" marB="38100" anchor="ctr">
                    <a:solidFill>
                      <a:srgbClr val="1E37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88900" marR="88900" marT="50800" marB="38100" anchor="ctr">
                    <a:solidFill>
                      <a:srgbClr val="1E37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变化</a:t>
                      </a:r>
                    </a:p>
                  </a:txBody>
                  <a:tcPr marL="88900" marR="88900" marT="50800" marB="38100" anchor="ctr">
                    <a:solidFill>
                      <a:srgbClr val="1E37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9116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60" b="1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255km</a:t>
                      </a:r>
                      <a:r>
                        <a:rPr lang="zh-CN" altLang="en-US" sz="960" b="1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尊享</a:t>
                      </a: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71.3%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78.1%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+6.8pp</a:t>
                      </a:r>
                      <a:endParaRPr lang="zh-CN" altLang="en-US" sz="96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040948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960" b="1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四驱尊享</a:t>
                      </a: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22.1%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1">
                          <a:solidFill>
                            <a:srgbClr val="D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-7.6pp</a:t>
                      </a:r>
                      <a:endParaRPr lang="zh-CN" altLang="en-US" sz="960" b="1">
                        <a:solidFill>
                          <a:srgbClr val="D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37959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60" b="1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255km</a:t>
                      </a:r>
                      <a:r>
                        <a:rPr lang="zh-CN" altLang="en-US" sz="960" b="1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臻享</a:t>
                      </a: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+0.7pp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4009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60" b="1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200km</a:t>
                      </a:r>
                      <a:r>
                        <a:rPr lang="zh-CN" altLang="en-US" sz="960" b="1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悦享</a:t>
                      </a: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1.6%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60" b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+0.1pp</a:t>
                      </a:r>
                      <a:endParaRPr lang="zh-CN" altLang="en-US" sz="960" b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900" marR="889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4656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3969D07-2BA3-1328-5F98-7A33102B3B81}"/>
              </a:ext>
            </a:extLst>
          </p:cNvPr>
          <p:cNvSpPr txBox="1"/>
          <p:nvPr/>
        </p:nvSpPr>
        <p:spPr>
          <a:xfrm>
            <a:off x="7366000" y="4559300"/>
            <a:ext cx="4191000" cy="40671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全量开票：</a:t>
            </a:r>
            <a:r>
              <a:rPr lang="en-US" altLang="zh-CN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n=5,654</a:t>
            </a: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n=7,148</a:t>
            </a: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月开票量较</a:t>
            </a:r>
            <a:r>
              <a:rPr lang="en-US" altLang="zh-CN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月增长</a:t>
            </a:r>
            <a:r>
              <a:rPr lang="en-US" altLang="zh-CN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26.4%</a:t>
            </a:r>
            <a:r>
              <a:rPr lang="zh-CN" altLang="en-US" sz="1150" b="1" cap="none">
                <a:solidFill>
                  <a:srgbClr val="0069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150" b="1" cap="none" dirty="0">
              <a:solidFill>
                <a:srgbClr val="0069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05660E-49AC-F975-E3EA-AE336AFC20C3}"/>
              </a:ext>
            </a:extLst>
          </p:cNvPr>
          <p:cNvSpPr txBox="1"/>
          <p:nvPr/>
        </p:nvSpPr>
        <p:spPr>
          <a:xfrm>
            <a:off x="825500" y="5384800"/>
            <a:ext cx="10731500" cy="2366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结论：两驱长续航尊享版是确定性主销；四驱版应聚焦性能、复杂路况和旗舰体验，不宜继续泛化经营。</a:t>
            </a:r>
            <a:endParaRPr lang="zh-CN" altLang="en-US" sz="1400" b="1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1A3ACB-0BBA-01B8-A74F-DAC523CCF984}"/>
              </a:ext>
            </a:extLst>
          </p:cNvPr>
          <p:cNvSpPr txBox="1"/>
          <p:nvPr/>
        </p:nvSpPr>
        <p:spPr>
          <a:xfrm>
            <a:off x="825500" y="6286500"/>
            <a:ext cx="10731500" cy="160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95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注：调研样本反映用户结构，全量开票反映实际业务结构，两种口径不可直接混用。</a:t>
            </a:r>
            <a:endParaRPr lang="zh-CN" altLang="en-US" sz="950" cap="none" dirty="0">
              <a:solidFill>
                <a:srgbClr val="5A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934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2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智驾用户入门化增强，华为影响仍强但态度更加理性</a:t>
            </a:r>
            <a:endParaRPr kumimoji="0" lang="zh-CN" altLang="en-US" sz="22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58B70A-4E6A-5D68-6261-4764B756A82A}"/>
              </a:ext>
            </a:extLst>
          </p:cNvPr>
          <p:cNvSpPr txBox="1"/>
          <p:nvPr/>
        </p:nvSpPr>
        <p:spPr>
          <a:xfrm>
            <a:off x="825500" y="990600"/>
            <a:ext cx="10541000" cy="204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从未体验智驾提升</a:t>
            </a:r>
            <a:r>
              <a:rPr lang="en-US" altLang="zh-CN" sz="1210" b="1" cap="none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、轻度依赖提升</a:t>
            </a:r>
            <a:r>
              <a:rPr lang="en-US" altLang="zh-CN" sz="1210" b="1" cap="none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3.7pp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，重度依赖下降</a:t>
            </a:r>
            <a:r>
              <a:rPr lang="en-US" altLang="zh-CN" sz="1210" b="1" cap="none">
                <a:solidFill>
                  <a:srgbClr val="D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4.0pp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；华为理性支持型提升</a:t>
            </a:r>
            <a:r>
              <a:rPr lang="en-US" altLang="zh-CN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，决定性影响和生态偏好分别下降</a:t>
            </a:r>
            <a:r>
              <a:rPr lang="en-US" altLang="zh-CN" sz="1210" b="1" cap="none">
                <a:solidFill>
                  <a:srgbClr val="D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10" b="1" cap="none">
                <a:solidFill>
                  <a:srgbClr val="D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3.8pp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10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AED65D-9147-A241-2794-09D0834040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494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6FF5171-9A29-CB52-27F0-899EB8C360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5494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1143D96-36B1-36F4-1FB2-CCCF8201C1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41402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2124F5F-7D78-F76E-D87D-ACD9958B1C7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4140200"/>
            <a:ext cx="5397500" cy="26924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</p:spTree>
    <p:extLst>
      <p:ext uri="{BB962C8B-B14F-4D97-AF65-F5344CB8AC3E}">
        <p14:creationId xmlns:p14="http://schemas.microsoft.com/office/powerpoint/2010/main" val="309760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E116-2537-4E34-B2DD-F4668E0A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00AECFB-96A2-F868-FF0A-CF5687E64D03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zh-CN" altLang="en-US" sz="2200" b="1" i="0" u="none" strike="noStrike" cap="all" spc="0" normalizeH="0" baseline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决策信任由官方表达转向车主口碑与榜单，推荐意愿保持高位</a:t>
            </a:r>
            <a:endParaRPr kumimoji="0" lang="zh-CN" altLang="en-US" sz="22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9CEC8F-AF75-3C39-BFE0-B358F34CA045}"/>
              </a:ext>
            </a:extLst>
          </p:cNvPr>
          <p:cNvSpPr txBox="1"/>
          <p:nvPr/>
        </p:nvSpPr>
        <p:spPr>
          <a:xfrm>
            <a:off x="825500" y="990600"/>
            <a:ext cx="10541000" cy="204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抖音提升</a:t>
            </a:r>
            <a:r>
              <a:rPr lang="en-US" altLang="zh-CN" sz="1210" b="1" cap="none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2.9pp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、汽车垂媒下降</a:t>
            </a:r>
            <a:r>
              <a:rPr lang="en-US" altLang="zh-CN" sz="1210" b="1" cap="none">
                <a:solidFill>
                  <a:srgbClr val="D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；官方广告下降</a:t>
            </a:r>
            <a:r>
              <a:rPr lang="en-US" altLang="zh-CN" sz="1210" b="1" cap="none">
                <a:solidFill>
                  <a:srgbClr val="D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，车主口碑和排行榜分别提升</a:t>
            </a:r>
            <a:r>
              <a:rPr lang="en-US" altLang="zh-CN" sz="1210" b="1" cap="none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10" b="1" cap="none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2.8pp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。推荐意愿由</a:t>
            </a:r>
            <a:r>
              <a:rPr lang="en-US" altLang="zh-CN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94.9%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升至</a:t>
            </a:r>
            <a:r>
              <a:rPr lang="en-US" altLang="zh-CN" sz="1210" b="1" cap="none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95.9%</a:t>
            </a:r>
            <a:r>
              <a:rPr lang="zh-CN" altLang="en-US" sz="1210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10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7E7947F-F068-5AC2-64D6-A2E88CE803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76400"/>
            <a:ext cx="3810000" cy="38100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8BEF8E5-0B54-3E16-F906-07588EF8001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676400"/>
            <a:ext cx="3810000" cy="38100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31C38BB-9257-9586-3318-92A327BECE5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676400"/>
            <a:ext cx="3810000" cy="38100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0D2B13D-5421-FB7A-2068-A53F33917F76}"/>
              </a:ext>
            </a:extLst>
          </p:cNvPr>
          <p:cNvSpPr txBox="1"/>
          <p:nvPr/>
        </p:nvSpPr>
        <p:spPr>
          <a:xfrm>
            <a:off x="825500" y="5740400"/>
            <a:ext cx="10541000" cy="22313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320" b="1" cap="none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建议：渠道不必全面重配，重点将抖音和门店中的内容从官方告知转为真实车主、长期体验、第三方测试和榜单证明。</a:t>
            </a:r>
            <a:endParaRPr lang="zh-CN" altLang="en-US" sz="1320" b="1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CFA6F3-427F-9A94-7B6E-419B17BE2D3B}"/>
              </a:ext>
            </a:extLst>
          </p:cNvPr>
          <p:cNvSpPr txBox="1"/>
          <p:nvPr/>
        </p:nvSpPr>
        <p:spPr>
          <a:xfrm>
            <a:off x="825500" y="6413500"/>
            <a:ext cx="10541000" cy="1622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96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口径提示：当前题目不是</a:t>
            </a:r>
            <a:r>
              <a:rPr lang="en-US" altLang="zh-CN" sz="96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0—10</a:t>
            </a:r>
            <a:r>
              <a:rPr lang="zh-CN" altLang="en-US" sz="96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96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NPS</a:t>
            </a:r>
            <a:r>
              <a:rPr lang="zh-CN" altLang="en-US" sz="96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量表，只能报告推荐意愿，不能计算标准</a:t>
            </a:r>
            <a:r>
              <a:rPr lang="en-US" altLang="zh-CN" sz="96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NPS</a:t>
            </a:r>
            <a:r>
              <a:rPr lang="zh-CN" altLang="en-US" sz="960" cap="none">
                <a:solidFill>
                  <a:srgbClr val="5A69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960" cap="none" dirty="0">
              <a:solidFill>
                <a:srgbClr val="5A69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030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9615-0162-33B7-8D68-315BA2F2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5402293-7F65-395D-0C89-C1099D650040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230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华境</a:t>
            </a:r>
            <a:r>
              <a:rPr lang="en-US" altLang="zh-CN" sz="230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</a:t>
            </a:r>
            <a:r>
              <a:rPr lang="zh-CN" altLang="en-US" sz="2300" b="1">
                <a:solidFill>
                  <a:srgbClr val="0718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基本盘稳定：成熟换购家庭仍是主体，智驾与空间构成核心价值</a:t>
            </a:r>
            <a:endParaRPr kumimoji="0" lang="zh-CN" altLang="en-US" sz="23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3B41F2-7196-E60E-2B9E-B1E1115072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260600"/>
            <a:ext cx="5397500" cy="21082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B18642C-AF34-52EB-C025-11C8DCC216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2260600"/>
            <a:ext cx="5397500" cy="21082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B5C557E-F3EB-47A6-850F-00F1BF00F82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4457700"/>
            <a:ext cx="5397500" cy="21082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D810211-0254-3B8F-9CF4-DA029F6A258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4457700"/>
            <a:ext cx="5397500" cy="210820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sp>
        <p:nvSpPr>
          <p:cNvPr id="2" name="Base_Panel">
            <a:extLst>
              <a:ext uri="{FF2B5EF4-FFF2-40B4-BE49-F238E27FC236}">
                <a16:creationId xmlns:a16="http://schemas.microsoft.com/office/drawing/2014/main" id="{C71CB825-D898-F0A8-4F37-9EE55FA2D9A3}"/>
              </a:ext>
            </a:extLst>
          </p:cNvPr>
          <p:cNvSpPr/>
          <p:nvPr/>
        </p:nvSpPr>
        <p:spPr>
          <a:xfrm>
            <a:off x="698500" y="965200"/>
            <a:ext cx="10795000" cy="1130300"/>
          </a:xfrm>
          <a:prstGeom prst="roundRect">
            <a:avLst/>
          </a:prstGeom>
          <a:solidFill>
            <a:srgbClr val="EFF6FA"/>
          </a:solidFill>
          <a:ln w="10160">
            <a:solidFill>
              <a:srgbClr val="B8C9D9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ase_Label_0">
            <a:extLst>
              <a:ext uri="{FF2B5EF4-FFF2-40B4-BE49-F238E27FC236}">
                <a16:creationId xmlns:a16="http://schemas.microsoft.com/office/drawing/2014/main" id="{39F9B4E6-C395-DD0E-3DE3-91BD9C29B78B}"/>
              </a:ext>
            </a:extLst>
          </p:cNvPr>
          <p:cNvSpPr txBox="1"/>
          <p:nvPr/>
        </p:nvSpPr>
        <p:spPr>
          <a:xfrm>
            <a:off x="889000" y="1092200"/>
            <a:ext cx="2413000" cy="277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100" b="1" cap="none">
                <a:solidFill>
                  <a:srgbClr val="00699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需求基本盘</a:t>
            </a:r>
            <a:endParaRPr lang="zh-CN" altLang="en-US" sz="1100" b="1" cap="none" dirty="0">
              <a:solidFill>
                <a:srgbClr val="00699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Base_Body_0">
            <a:extLst>
              <a:ext uri="{FF2B5EF4-FFF2-40B4-BE49-F238E27FC236}">
                <a16:creationId xmlns:a16="http://schemas.microsoft.com/office/drawing/2014/main" id="{8E1EBB26-185D-5AFA-1D9D-59142343C9B2}"/>
              </a:ext>
            </a:extLst>
          </p:cNvPr>
          <p:cNvSpPr txBox="1"/>
          <p:nvPr/>
        </p:nvSpPr>
        <p:spPr>
          <a:xfrm>
            <a:off x="889000" y="1371600"/>
            <a:ext cx="2413000" cy="42806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智驾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25.8%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仍居首位；空间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19.2%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升至第二</a:t>
            </a:r>
            <a:endParaRPr lang="zh-CN" altLang="en-US" sz="950" cap="none" dirty="0">
              <a:solidFill>
                <a:srgbClr val="07182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3" name="Base_Line_1">
            <a:extLst>
              <a:ext uri="{FF2B5EF4-FFF2-40B4-BE49-F238E27FC236}">
                <a16:creationId xmlns:a16="http://schemas.microsoft.com/office/drawing/2014/main" id="{7AD9AA35-1C5B-CD8D-3D7C-E5291706E672}"/>
              </a:ext>
            </a:extLst>
          </p:cNvPr>
          <p:cNvCxnSpPr/>
          <p:nvPr/>
        </p:nvCxnSpPr>
        <p:spPr>
          <a:xfrm>
            <a:off x="3416300" y="1143000"/>
            <a:ext cx="0" cy="723900"/>
          </a:xfrm>
          <a:prstGeom prst="line">
            <a:avLst/>
          </a:prstGeom>
          <a:noFill/>
          <a:ln w="9525" cap="flat">
            <a:solidFill>
              <a:srgbClr val="B8C9D9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Base_Label_1">
            <a:extLst>
              <a:ext uri="{FF2B5EF4-FFF2-40B4-BE49-F238E27FC236}">
                <a16:creationId xmlns:a16="http://schemas.microsoft.com/office/drawing/2014/main" id="{613A471B-E4EE-BB53-816E-A1784D6A4F37}"/>
              </a:ext>
            </a:extLst>
          </p:cNvPr>
          <p:cNvSpPr txBox="1"/>
          <p:nvPr/>
        </p:nvSpPr>
        <p:spPr>
          <a:xfrm>
            <a:off x="3530600" y="1092200"/>
            <a:ext cx="2413000" cy="277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100" b="1" cap="none">
                <a:solidFill>
                  <a:srgbClr val="00699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购车基本盘</a:t>
            </a:r>
            <a:endParaRPr lang="zh-CN" altLang="en-US" sz="1100" b="1" cap="none" dirty="0">
              <a:solidFill>
                <a:srgbClr val="00699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Base_Body_1">
            <a:extLst>
              <a:ext uri="{FF2B5EF4-FFF2-40B4-BE49-F238E27FC236}">
                <a16:creationId xmlns:a16="http://schemas.microsoft.com/office/drawing/2014/main" id="{BFFD37F3-B345-4D6D-837A-5F9CBCD59994}"/>
              </a:ext>
            </a:extLst>
          </p:cNvPr>
          <p:cNvSpPr txBox="1"/>
          <p:nvPr/>
        </p:nvSpPr>
        <p:spPr>
          <a:xfrm>
            <a:off x="3530600" y="1371600"/>
            <a:ext cx="2413000" cy="42806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换购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62.1%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仍是主体；首购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增购合计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37.9%</a:t>
            </a:r>
            <a:endParaRPr lang="zh-CN" altLang="en-US" sz="950" cap="none" dirty="0">
              <a:solidFill>
                <a:srgbClr val="07182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6" name="Base_Line_2">
            <a:extLst>
              <a:ext uri="{FF2B5EF4-FFF2-40B4-BE49-F238E27FC236}">
                <a16:creationId xmlns:a16="http://schemas.microsoft.com/office/drawing/2014/main" id="{AAC8DE05-CFA0-C987-7D73-2671371F1A3D}"/>
              </a:ext>
            </a:extLst>
          </p:cNvPr>
          <p:cNvCxnSpPr/>
          <p:nvPr/>
        </p:nvCxnSpPr>
        <p:spPr>
          <a:xfrm>
            <a:off x="6057900" y="1143000"/>
            <a:ext cx="0" cy="723900"/>
          </a:xfrm>
          <a:prstGeom prst="line">
            <a:avLst/>
          </a:prstGeom>
          <a:noFill/>
          <a:ln w="9525" cap="flat">
            <a:solidFill>
              <a:srgbClr val="B8C9D9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Base_Label_2">
            <a:extLst>
              <a:ext uri="{FF2B5EF4-FFF2-40B4-BE49-F238E27FC236}">
                <a16:creationId xmlns:a16="http://schemas.microsoft.com/office/drawing/2014/main" id="{FE70E22E-DBBF-291B-B114-8FBFE931C7E5}"/>
              </a:ext>
            </a:extLst>
          </p:cNvPr>
          <p:cNvSpPr txBox="1"/>
          <p:nvPr/>
        </p:nvSpPr>
        <p:spPr>
          <a:xfrm>
            <a:off x="6172200" y="1092200"/>
            <a:ext cx="2413000" cy="277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100" b="1" cap="none">
                <a:solidFill>
                  <a:srgbClr val="00699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来源基本盘</a:t>
            </a:r>
            <a:endParaRPr lang="zh-CN" altLang="en-US" sz="1100" b="1" cap="none" dirty="0">
              <a:solidFill>
                <a:srgbClr val="00699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Base_Body_2">
            <a:extLst>
              <a:ext uri="{FF2B5EF4-FFF2-40B4-BE49-F238E27FC236}">
                <a16:creationId xmlns:a16="http://schemas.microsoft.com/office/drawing/2014/main" id="{2B5F071C-F5F0-C9E7-2AD2-D99901FA6553}"/>
              </a:ext>
            </a:extLst>
          </p:cNvPr>
          <p:cNvSpPr txBox="1"/>
          <p:nvPr/>
        </p:nvSpPr>
        <p:spPr>
          <a:xfrm>
            <a:off x="6172200" y="1371600"/>
            <a:ext cx="2413000" cy="42806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合资燃油车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57.9%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，仍是最大旧车来源</a:t>
            </a:r>
            <a:endParaRPr lang="zh-CN" altLang="en-US" sz="950" cap="none" dirty="0">
              <a:solidFill>
                <a:srgbClr val="07182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9" name="Base_Line_3">
            <a:extLst>
              <a:ext uri="{FF2B5EF4-FFF2-40B4-BE49-F238E27FC236}">
                <a16:creationId xmlns:a16="http://schemas.microsoft.com/office/drawing/2014/main" id="{FAFE3B05-2491-C8A6-58FF-E39340CB1788}"/>
              </a:ext>
            </a:extLst>
          </p:cNvPr>
          <p:cNvCxnSpPr/>
          <p:nvPr/>
        </p:nvCxnSpPr>
        <p:spPr>
          <a:xfrm>
            <a:off x="8699500" y="1143000"/>
            <a:ext cx="0" cy="723900"/>
          </a:xfrm>
          <a:prstGeom prst="line">
            <a:avLst/>
          </a:prstGeom>
          <a:noFill/>
          <a:ln w="9525" cap="flat">
            <a:solidFill>
              <a:srgbClr val="B8C9D9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Base_Label_3">
            <a:extLst>
              <a:ext uri="{FF2B5EF4-FFF2-40B4-BE49-F238E27FC236}">
                <a16:creationId xmlns:a16="http://schemas.microsoft.com/office/drawing/2014/main" id="{E9001EBF-E843-55A8-1C88-85645592883C}"/>
              </a:ext>
            </a:extLst>
          </p:cNvPr>
          <p:cNvSpPr txBox="1"/>
          <p:nvPr/>
        </p:nvSpPr>
        <p:spPr>
          <a:xfrm>
            <a:off x="8813800" y="1092200"/>
            <a:ext cx="2413000" cy="277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100" b="1" cap="none">
                <a:solidFill>
                  <a:srgbClr val="00699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竞争基本盘</a:t>
            </a:r>
            <a:endParaRPr lang="zh-CN" altLang="en-US" sz="1100" b="1" cap="none" dirty="0">
              <a:solidFill>
                <a:srgbClr val="00699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Base_Body_3">
            <a:extLst>
              <a:ext uri="{FF2B5EF4-FFF2-40B4-BE49-F238E27FC236}">
                <a16:creationId xmlns:a16="http://schemas.microsoft.com/office/drawing/2014/main" id="{5870BF1D-54E9-68F8-88BE-4C7FB781DB24}"/>
              </a:ext>
            </a:extLst>
          </p:cNvPr>
          <p:cNvSpPr txBox="1"/>
          <p:nvPr/>
        </p:nvSpPr>
        <p:spPr>
          <a:xfrm>
            <a:off x="8813800" y="1371600"/>
            <a:ext cx="2413000" cy="42806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M9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D19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T11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前三稳定；</a:t>
            </a:r>
            <a:r>
              <a:rPr lang="en-US" altLang="zh-CN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C16</a:t>
            </a:r>
            <a:r>
              <a:rPr lang="zh-CN" altLang="en-US" sz="950" cap="none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仅小幅上升</a:t>
            </a:r>
            <a:endParaRPr lang="zh-CN" altLang="en-US" sz="950" cap="none" dirty="0">
              <a:solidFill>
                <a:srgbClr val="07182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Base_Implication">
            <a:extLst>
              <a:ext uri="{FF2B5EF4-FFF2-40B4-BE49-F238E27FC236}">
                <a16:creationId xmlns:a16="http://schemas.microsoft.com/office/drawing/2014/main" id="{56E45021-8B5A-0232-DB69-D004FC13A3AA}"/>
              </a:ext>
            </a:extLst>
          </p:cNvPr>
          <p:cNvSpPr txBox="1"/>
          <p:nvPr/>
        </p:nvSpPr>
        <p:spPr>
          <a:xfrm>
            <a:off x="825500" y="6642100"/>
            <a:ext cx="10541000" cy="2695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zh-CN" altLang="en-US" sz="1050" b="1" cap="none">
                <a:solidFill>
                  <a:srgbClr val="1E37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经营含义：主线仍应围绕成熟换购家庭、合资燃油车升级和华为智驾价值；增量内容重点补充空间场景与首购</a:t>
            </a:r>
            <a:r>
              <a:rPr lang="en-US" altLang="zh-CN" sz="1050" b="1" cap="none">
                <a:solidFill>
                  <a:srgbClr val="1E37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1050" b="1" cap="none">
                <a:solidFill>
                  <a:srgbClr val="1E37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增购需求。</a:t>
            </a:r>
            <a:endParaRPr lang="zh-CN" altLang="en-US" sz="1050" b="1" cap="none" dirty="0">
              <a:solidFill>
                <a:srgbClr val="1E37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754413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SGMW">
      <a:dk1>
        <a:srgbClr val="000F15"/>
      </a:dk1>
      <a:lt1>
        <a:srgbClr val="5C666F"/>
      </a:lt1>
      <a:dk2>
        <a:srgbClr val="BDC2C6"/>
      </a:dk2>
      <a:lt2>
        <a:srgbClr val="F1F4F7"/>
      </a:lt2>
      <a:accent1>
        <a:srgbClr val="005CE7"/>
      </a:accent1>
      <a:accent2>
        <a:srgbClr val="172F5F"/>
      </a:accent2>
      <a:accent3>
        <a:srgbClr val="7EC0FF"/>
      </a:accent3>
      <a:accent4>
        <a:srgbClr val="C11656"/>
      </a:accent4>
      <a:accent5>
        <a:srgbClr val="E25C4E"/>
      </a:accent5>
      <a:accent6>
        <a:srgbClr val="79868E"/>
      </a:accent6>
      <a:hlink>
        <a:srgbClr val="6FB4FF"/>
      </a:hlink>
      <a:folHlink>
        <a:srgbClr val="E25C4E"/>
      </a:folHlink>
    </a:clrScheme>
    <a:fontScheme name="21_BasicWhite">
      <a:majorFont>
        <a:latin typeface="Microsoft YaHei"/>
        <a:ea typeface="Microsoft YaHei"/>
        <a:cs typeface="Microsoft YaHei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wrap="square" rtlCol="0" anchor="ctr">
        <a:spAutoFit/>
      </a:bodyPr>
      <a:lstStyle>
        <a:defPPr algn="l" defTabSz="457200">
          <a:defRPr kumimoji="0" sz="1400" b="1" i="0" u="none" strike="noStrike" kern="1200" cap="none" spc="0" normalizeH="0" baseline="0" noProof="0" dirty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wrap="square" rtlCol="0">
        <a:spAutoFit/>
      </a:bodyPr>
      <a:lstStyle>
        <a:defPPr marL="285750" indent="-285750" algn="l">
          <a:buFont typeface="Wingdings" panose="05000000000000000000" pitchFamily="2" charset="2"/>
          <a:buChar char="p"/>
          <a:defRPr sz="1400" cap="none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C11CA91-3521-4A8C-A37D-C05CFCDA0657}" vid="{0D5D4FE6-E352-4D07-AC74-857B1EDA808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SGMW营销模板</Template>
  <TotalTime>333</TotalTime>
  <Words>857</Words>
  <Application>Microsoft Office PowerPoint</Application>
  <PresentationFormat>宽屏</PresentationFormat>
  <Paragraphs>68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微软雅黑</vt:lpstr>
      <vt:lpstr>微软雅黑</vt:lpstr>
      <vt:lpstr>微软雅黑 Light</vt:lpstr>
      <vt:lpstr>Arial</vt:lpstr>
      <vt:lpstr>Wingdings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琳瑛 赵</dc:creator>
  <cp:lastModifiedBy>琳瑛 赵</cp:lastModifiedBy>
  <cp:revision>16</cp:revision>
  <dcterms:created xsi:type="dcterms:W3CDTF">2026-08-06T06:03:47Z</dcterms:created>
  <dcterms:modified xsi:type="dcterms:W3CDTF">2026-08-07T08:11:01Z</dcterms:modified>
</cp:coreProperties>
</file>