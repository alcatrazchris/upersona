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5" r:id="rId2"/>
    <p:sldId id="259" r:id="rId3"/>
    <p:sldId id="261" r:id="rId4"/>
    <p:sldId id="260" r:id="rId5"/>
    <p:sldId id="266" r:id="rId6"/>
    <p:sldId id="267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1pPr>
    <a:lvl2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2pPr>
    <a:lvl3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3pPr>
    <a:lvl4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4pPr>
    <a:lvl5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5pPr>
    <a:lvl6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6pPr>
    <a:lvl7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7pPr>
    <a:lvl8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8pPr>
    <a:lvl9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AD750-9EDC-4480-8164-01F44943622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7BF57-365C-4FC0-A28D-0E77EB316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53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7BF57-365C-4FC0-A28D-0E77EB3161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92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全版（图片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733990" y="2201035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19" name="date"/>
          <p:cNvSpPr txBox="1">
            <a:spLocks noGrp="1"/>
          </p:cNvSpPr>
          <p:nvPr>
            <p:ph type="body" sz="quarter" idx="23"/>
          </p:nvPr>
        </p:nvSpPr>
        <p:spPr>
          <a:xfrm>
            <a:off x="737065" y="2929149"/>
            <a:ext cx="7620001" cy="385222"/>
          </a:xfrm>
          <a:prstGeom prst="rect">
            <a:avLst/>
          </a:prstGeom>
        </p:spPr>
        <p:txBody>
          <a:bodyPr/>
          <a:lstStyle>
            <a:lvl1pPr defTabSz="12192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lvl="0">
              <a:defRPr>
                <a:solidFill>
                  <a:srgbClr val="26282A"/>
                </a:solidFill>
              </a:defRPr>
            </a:pPr>
            <a:r>
              <a:rPr lang="zh-CN" altLang="en-US">
                <a:solidFill>
                  <a:srgbClr val="FFFFFF"/>
                </a:solidFill>
              </a:rPr>
              <a:t>单击此处编辑母版文本样式</a:t>
            </a:r>
          </a:p>
        </p:txBody>
      </p:sp>
      <p:sp>
        <p:nvSpPr>
          <p:cNvPr id="20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22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26545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/>
          </p:nvPr>
        </p:nvSpPr>
        <p:spPr>
          <a:xfrm>
            <a:off x="733990" y="3818251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3" name="date"/>
          <p:cNvSpPr txBox="1">
            <a:spLocks noGrp="1"/>
          </p:cNvSpPr>
          <p:nvPr>
            <p:ph type="body" sz="quarter" idx="21"/>
          </p:nvPr>
        </p:nvSpPr>
        <p:spPr>
          <a:xfrm>
            <a:off x="733990" y="4538384"/>
            <a:ext cx="7620001" cy="291420"/>
          </a:xfrm>
          <a:prstGeom prst="rect">
            <a:avLst/>
          </a:prstGeom>
        </p:spPr>
        <p:txBody>
          <a:bodyPr/>
          <a:lstStyle/>
          <a:p>
            <a:pPr lvl="0" defTabSz="1219200">
              <a:lnSpc>
                <a:spcPct val="80000"/>
              </a:lnSpc>
              <a:spcBef>
                <a:spcPts val="0"/>
              </a:spcBef>
              <a:defRPr>
                <a:latin typeface="+mj-lt"/>
                <a:ea typeface="+mj-ea"/>
                <a:cs typeface="+mj-cs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spcBef>
                <a:spcPts val="700"/>
              </a:spcBef>
              <a:defRPr sz="700">
                <a:solidFill>
                  <a:srgbClr val="5E666F"/>
                </a:solidFill>
                <a:latin typeface="+mn-lt"/>
                <a:ea typeface="+mn-ea"/>
                <a:cs typeface="+mn-cs"/>
                <a:sym typeface="Arial" panose="020B0604020202090204"/>
              </a:defRPr>
            </a:pPr>
            <a:r>
              <a:rPr lang="zh-CN" altLang="en-US" dirty="0">
                <a:latin typeface="+mj-lt"/>
                <a:ea typeface="+mj-ea"/>
                <a:cs typeface="+mj-cs"/>
                <a:sym typeface="微软雅黑" panose="020B0503020204020204" charset="-122"/>
              </a:rPr>
              <a:t>演示文稿主题文本｜版本</a:t>
            </a:r>
            <a:endParaRPr dirty="0"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36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030F15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37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gradFill>
            <a:gsLst>
              <a:gs pos="39000">
                <a:schemeClr val="accent1"/>
              </a:gs>
              <a:gs pos="100000">
                <a:schemeClr val="accent3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10" name="矩形"/>
          <p:cNvSpPr/>
          <p:nvPr/>
        </p:nvSpPr>
        <p:spPr>
          <a:xfrm>
            <a:off x="0" y="0"/>
            <a:ext cx="12192000" cy="3441700"/>
          </a:xfrm>
          <a:prstGeom prst="rect">
            <a:avLst/>
          </a:prstGeom>
          <a:gradFill>
            <a:gsLst>
              <a:gs pos="0">
                <a:schemeClr val="accent3"/>
              </a:gs>
              <a:gs pos="87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10894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"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文本"/>
          <p:cNvSpPr txBox="1">
            <a:spLocks noGrp="1"/>
          </p:cNvSpPr>
          <p:nvPr>
            <p:ph type="title"/>
          </p:nvPr>
        </p:nvSpPr>
        <p:spPr>
          <a:xfrm>
            <a:off x="736090" y="2211776"/>
            <a:ext cx="6097623" cy="736483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37420" y="3672018"/>
            <a:ext cx="10717160" cy="1654628"/>
          </a:xfrm>
          <a:prstGeom prst="rect">
            <a:avLst/>
          </a:prstGeom>
        </p:spPr>
        <p:txBody>
          <a:bodyPr lIns="30234" tIns="30234" rIns="30234" bIns="30234"/>
          <a:lstStyle>
            <a:lvl1pPr marL="130810" indent="-130810">
              <a:spcBef>
                <a:spcPts val="700"/>
              </a:spcBef>
              <a:buClr>
                <a:srgbClr val="FFFFFF"/>
              </a:buClr>
              <a:buSzPct val="100000"/>
              <a:buChar char="•"/>
              <a:defRPr sz="1200" cap="all">
                <a:solidFill>
                  <a:srgbClr val="12181F"/>
                </a:solidFill>
              </a:defRPr>
            </a:lvl1pPr>
            <a:lvl2pPr marL="7620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2pPr>
            <a:lvl3pPr marL="13716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3pPr>
            <a:lvl4pPr marL="19812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4pPr>
            <a:lvl5pPr marL="25908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1" name="第几章节"/>
          <p:cNvSpPr txBox="1">
            <a:spLocks noGrp="1"/>
          </p:cNvSpPr>
          <p:nvPr>
            <p:ph type="body" sz="quarter" idx="21"/>
          </p:nvPr>
        </p:nvSpPr>
        <p:spPr>
          <a:xfrm>
            <a:off x="736090" y="1410609"/>
            <a:ext cx="6097623" cy="736484"/>
          </a:xfrm>
          <a:prstGeom prst="rect">
            <a:avLst/>
          </a:prstGeom>
        </p:spPr>
        <p:txBody>
          <a:bodyPr anchor="b"/>
          <a:lstStyle>
            <a:lvl1pPr defTabSz="358775">
              <a:lnSpc>
                <a:spcPct val="100000"/>
              </a:lnSpc>
              <a:spcBef>
                <a:spcPts val="0"/>
              </a:spcBef>
              <a:defRPr sz="4175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圆角矩形"/>
          <p:cNvSpPr/>
          <p:nvPr/>
        </p:nvSpPr>
        <p:spPr>
          <a:xfrm>
            <a:off x="726558" y="3197489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11092533" y="369887"/>
            <a:ext cx="361997" cy="364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600" extrusionOk="0">
                <a:moveTo>
                  <a:pt x="10787" y="0"/>
                </a:moveTo>
                <a:cubicBezTo>
                  <a:pt x="6993" y="0"/>
                  <a:pt x="3653" y="1939"/>
                  <a:pt x="1711" y="4873"/>
                </a:cubicBezTo>
                <a:cubicBezTo>
                  <a:pt x="687" y="6458"/>
                  <a:pt x="74" y="8329"/>
                  <a:pt x="7" y="10335"/>
                </a:cubicBezTo>
                <a:cubicBezTo>
                  <a:pt x="3" y="10456"/>
                  <a:pt x="-7" y="10784"/>
                  <a:pt x="7" y="10982"/>
                </a:cubicBezTo>
                <a:cubicBezTo>
                  <a:pt x="17" y="11131"/>
                  <a:pt x="30" y="11298"/>
                  <a:pt x="149" y="11406"/>
                </a:cubicBezTo>
                <a:cubicBezTo>
                  <a:pt x="250" y="11499"/>
                  <a:pt x="371" y="11502"/>
                  <a:pt x="504" y="11512"/>
                </a:cubicBezTo>
                <a:cubicBezTo>
                  <a:pt x="629" y="11520"/>
                  <a:pt x="884" y="11524"/>
                  <a:pt x="1001" y="11524"/>
                </a:cubicBezTo>
                <a:lnTo>
                  <a:pt x="4161" y="11524"/>
                </a:lnTo>
                <a:cubicBezTo>
                  <a:pt x="4191" y="11524"/>
                  <a:pt x="4210" y="11518"/>
                  <a:pt x="4220" y="11512"/>
                </a:cubicBezTo>
                <a:cubicBezTo>
                  <a:pt x="4242" y="11502"/>
                  <a:pt x="4250" y="11485"/>
                  <a:pt x="4243" y="11465"/>
                </a:cubicBezTo>
                <a:cubicBezTo>
                  <a:pt x="4241" y="11457"/>
                  <a:pt x="4228" y="11442"/>
                  <a:pt x="4220" y="11430"/>
                </a:cubicBezTo>
                <a:cubicBezTo>
                  <a:pt x="4159" y="11335"/>
                  <a:pt x="3836" y="10822"/>
                  <a:pt x="3817" y="10794"/>
                </a:cubicBezTo>
                <a:cubicBezTo>
                  <a:pt x="3797" y="10764"/>
                  <a:pt x="3763" y="10732"/>
                  <a:pt x="3735" y="10700"/>
                </a:cubicBezTo>
                <a:cubicBezTo>
                  <a:pt x="3696" y="10658"/>
                  <a:pt x="3663" y="10626"/>
                  <a:pt x="3616" y="10606"/>
                </a:cubicBezTo>
                <a:cubicBezTo>
                  <a:pt x="3568" y="10584"/>
                  <a:pt x="3496" y="10572"/>
                  <a:pt x="3391" y="10570"/>
                </a:cubicBezTo>
                <a:cubicBezTo>
                  <a:pt x="3331" y="10570"/>
                  <a:pt x="3249" y="10570"/>
                  <a:pt x="3167" y="10570"/>
                </a:cubicBezTo>
                <a:cubicBezTo>
                  <a:pt x="2884" y="10570"/>
                  <a:pt x="1908" y="10570"/>
                  <a:pt x="1652" y="10570"/>
                </a:cubicBezTo>
                <a:cubicBezTo>
                  <a:pt x="1599" y="10570"/>
                  <a:pt x="1596" y="10570"/>
                  <a:pt x="1557" y="10570"/>
                </a:cubicBezTo>
                <a:cubicBezTo>
                  <a:pt x="1460" y="10566"/>
                  <a:pt x="1390" y="10492"/>
                  <a:pt x="1380" y="10394"/>
                </a:cubicBezTo>
                <a:cubicBezTo>
                  <a:pt x="1378" y="10364"/>
                  <a:pt x="1380" y="10328"/>
                  <a:pt x="1380" y="10311"/>
                </a:cubicBezTo>
                <a:cubicBezTo>
                  <a:pt x="1380" y="10261"/>
                  <a:pt x="1378" y="10209"/>
                  <a:pt x="1380" y="10158"/>
                </a:cubicBezTo>
                <a:cubicBezTo>
                  <a:pt x="1646" y="4965"/>
                  <a:pt x="5974" y="836"/>
                  <a:pt x="11260" y="836"/>
                </a:cubicBezTo>
                <a:cubicBezTo>
                  <a:pt x="16025" y="836"/>
                  <a:pt x="19991" y="4189"/>
                  <a:pt x="20928" y="8652"/>
                </a:cubicBezTo>
                <a:lnTo>
                  <a:pt x="21425" y="8652"/>
                </a:lnTo>
                <a:cubicBezTo>
                  <a:pt x="21290" y="7987"/>
                  <a:pt x="21098" y="7336"/>
                  <a:pt x="20845" y="6721"/>
                </a:cubicBezTo>
                <a:cubicBezTo>
                  <a:pt x="19226" y="2779"/>
                  <a:pt x="15334" y="0"/>
                  <a:pt x="10787" y="0"/>
                </a:cubicBezTo>
                <a:close/>
                <a:moveTo>
                  <a:pt x="10799" y="1436"/>
                </a:moveTo>
                <a:cubicBezTo>
                  <a:pt x="10609" y="1436"/>
                  <a:pt x="10418" y="1509"/>
                  <a:pt x="10266" y="1672"/>
                </a:cubicBezTo>
                <a:cubicBezTo>
                  <a:pt x="10170" y="1774"/>
                  <a:pt x="10073" y="1905"/>
                  <a:pt x="10006" y="2001"/>
                </a:cubicBezTo>
                <a:cubicBezTo>
                  <a:pt x="9941" y="2095"/>
                  <a:pt x="9920" y="2134"/>
                  <a:pt x="9793" y="2331"/>
                </a:cubicBezTo>
                <a:cubicBezTo>
                  <a:pt x="9510" y="2773"/>
                  <a:pt x="6551" y="7375"/>
                  <a:pt x="6196" y="7934"/>
                </a:cubicBezTo>
                <a:cubicBezTo>
                  <a:pt x="5499" y="9026"/>
                  <a:pt x="5220" y="9447"/>
                  <a:pt x="4942" y="10005"/>
                </a:cubicBezTo>
                <a:cubicBezTo>
                  <a:pt x="4691" y="10510"/>
                  <a:pt x="4689" y="11089"/>
                  <a:pt x="4930" y="11583"/>
                </a:cubicBezTo>
                <a:cubicBezTo>
                  <a:pt x="5176" y="12087"/>
                  <a:pt x="5485" y="12565"/>
                  <a:pt x="6208" y="13690"/>
                </a:cubicBezTo>
                <a:cubicBezTo>
                  <a:pt x="6230" y="13724"/>
                  <a:pt x="8988" y="18040"/>
                  <a:pt x="9781" y="19281"/>
                </a:cubicBezTo>
                <a:cubicBezTo>
                  <a:pt x="9913" y="19486"/>
                  <a:pt x="9900" y="19470"/>
                  <a:pt x="9994" y="19611"/>
                </a:cubicBezTo>
                <a:cubicBezTo>
                  <a:pt x="10091" y="19751"/>
                  <a:pt x="10160" y="19844"/>
                  <a:pt x="10255" y="19940"/>
                </a:cubicBezTo>
                <a:cubicBezTo>
                  <a:pt x="10394" y="20081"/>
                  <a:pt x="10585" y="20164"/>
                  <a:pt x="10787" y="20164"/>
                </a:cubicBezTo>
                <a:cubicBezTo>
                  <a:pt x="10977" y="20164"/>
                  <a:pt x="11168" y="20103"/>
                  <a:pt x="11320" y="19940"/>
                </a:cubicBezTo>
                <a:cubicBezTo>
                  <a:pt x="11416" y="19838"/>
                  <a:pt x="11513" y="19707"/>
                  <a:pt x="11580" y="19611"/>
                </a:cubicBezTo>
                <a:cubicBezTo>
                  <a:pt x="11645" y="19516"/>
                  <a:pt x="11666" y="19478"/>
                  <a:pt x="11793" y="19281"/>
                </a:cubicBezTo>
                <a:cubicBezTo>
                  <a:pt x="12076" y="18839"/>
                  <a:pt x="15035" y="14236"/>
                  <a:pt x="15390" y="13678"/>
                </a:cubicBezTo>
                <a:cubicBezTo>
                  <a:pt x="16087" y="12585"/>
                  <a:pt x="16366" y="12153"/>
                  <a:pt x="16644" y="11595"/>
                </a:cubicBezTo>
                <a:cubicBezTo>
                  <a:pt x="16895" y="11090"/>
                  <a:pt x="16897" y="10511"/>
                  <a:pt x="16656" y="10017"/>
                </a:cubicBezTo>
                <a:cubicBezTo>
                  <a:pt x="16410" y="9513"/>
                  <a:pt x="16101" y="9047"/>
                  <a:pt x="15378" y="7922"/>
                </a:cubicBezTo>
                <a:cubicBezTo>
                  <a:pt x="15356" y="7888"/>
                  <a:pt x="12598" y="3572"/>
                  <a:pt x="11805" y="2331"/>
                </a:cubicBezTo>
                <a:cubicBezTo>
                  <a:pt x="11673" y="2126"/>
                  <a:pt x="11687" y="2142"/>
                  <a:pt x="11592" y="2001"/>
                </a:cubicBezTo>
                <a:cubicBezTo>
                  <a:pt x="11497" y="1860"/>
                  <a:pt x="11426" y="1768"/>
                  <a:pt x="11331" y="1672"/>
                </a:cubicBezTo>
                <a:cubicBezTo>
                  <a:pt x="11192" y="1531"/>
                  <a:pt x="11001" y="1436"/>
                  <a:pt x="10799" y="1436"/>
                </a:cubicBezTo>
                <a:close/>
                <a:moveTo>
                  <a:pt x="8065" y="7204"/>
                </a:moveTo>
                <a:lnTo>
                  <a:pt x="13521" y="7204"/>
                </a:lnTo>
                <a:cubicBezTo>
                  <a:pt x="13728" y="7216"/>
                  <a:pt x="13931" y="7289"/>
                  <a:pt x="14089" y="7428"/>
                </a:cubicBezTo>
                <a:cubicBezTo>
                  <a:pt x="14280" y="7590"/>
                  <a:pt x="14394" y="7836"/>
                  <a:pt x="14408" y="8087"/>
                </a:cubicBezTo>
                <a:lnTo>
                  <a:pt x="14408" y="13525"/>
                </a:lnTo>
                <a:cubicBezTo>
                  <a:pt x="14396" y="13744"/>
                  <a:pt x="14311" y="13955"/>
                  <a:pt x="14160" y="14114"/>
                </a:cubicBezTo>
                <a:cubicBezTo>
                  <a:pt x="13996" y="14290"/>
                  <a:pt x="13761" y="14396"/>
                  <a:pt x="13521" y="14408"/>
                </a:cubicBezTo>
                <a:lnTo>
                  <a:pt x="8065" y="14408"/>
                </a:lnTo>
                <a:cubicBezTo>
                  <a:pt x="7841" y="14396"/>
                  <a:pt x="7624" y="14306"/>
                  <a:pt x="7462" y="14149"/>
                </a:cubicBezTo>
                <a:cubicBezTo>
                  <a:pt x="7292" y="13986"/>
                  <a:pt x="7178" y="13758"/>
                  <a:pt x="7166" y="13525"/>
                </a:cubicBezTo>
                <a:lnTo>
                  <a:pt x="7166" y="8087"/>
                </a:lnTo>
                <a:cubicBezTo>
                  <a:pt x="7178" y="7848"/>
                  <a:pt x="7296" y="7614"/>
                  <a:pt x="7474" y="7451"/>
                </a:cubicBezTo>
                <a:cubicBezTo>
                  <a:pt x="7633" y="7300"/>
                  <a:pt x="7847" y="7218"/>
                  <a:pt x="8065" y="7204"/>
                </a:cubicBezTo>
                <a:close/>
                <a:moveTo>
                  <a:pt x="8065" y="7663"/>
                </a:moveTo>
                <a:cubicBezTo>
                  <a:pt x="7900" y="7675"/>
                  <a:pt x="7755" y="7785"/>
                  <a:pt x="7687" y="7934"/>
                </a:cubicBezTo>
                <a:cubicBezTo>
                  <a:pt x="7657" y="7996"/>
                  <a:pt x="7640" y="8066"/>
                  <a:pt x="7639" y="8134"/>
                </a:cubicBezTo>
                <a:cubicBezTo>
                  <a:pt x="7639" y="9916"/>
                  <a:pt x="7639" y="11708"/>
                  <a:pt x="7639" y="13490"/>
                </a:cubicBezTo>
                <a:cubicBezTo>
                  <a:pt x="7639" y="13701"/>
                  <a:pt x="7798" y="13897"/>
                  <a:pt x="8006" y="13937"/>
                </a:cubicBezTo>
                <a:cubicBezTo>
                  <a:pt x="8069" y="13951"/>
                  <a:pt x="8145" y="13935"/>
                  <a:pt x="8207" y="13937"/>
                </a:cubicBezTo>
                <a:lnTo>
                  <a:pt x="13473" y="13937"/>
                </a:lnTo>
                <a:cubicBezTo>
                  <a:pt x="13604" y="13937"/>
                  <a:pt x="13739" y="13892"/>
                  <a:pt x="13828" y="13796"/>
                </a:cubicBezTo>
                <a:cubicBezTo>
                  <a:pt x="13907" y="13711"/>
                  <a:pt x="13947" y="13592"/>
                  <a:pt x="13947" y="13478"/>
                </a:cubicBezTo>
                <a:cubicBezTo>
                  <a:pt x="13947" y="11696"/>
                  <a:pt x="13947" y="9906"/>
                  <a:pt x="13947" y="8122"/>
                </a:cubicBezTo>
                <a:cubicBezTo>
                  <a:pt x="13947" y="7931"/>
                  <a:pt x="13819" y="7761"/>
                  <a:pt x="13639" y="7698"/>
                </a:cubicBezTo>
                <a:cubicBezTo>
                  <a:pt x="13544" y="7662"/>
                  <a:pt x="13442" y="7665"/>
                  <a:pt x="13343" y="7663"/>
                </a:cubicBezTo>
                <a:cubicBezTo>
                  <a:pt x="11586" y="7663"/>
                  <a:pt x="9820" y="7663"/>
                  <a:pt x="8065" y="7663"/>
                </a:cubicBezTo>
                <a:close/>
                <a:moveTo>
                  <a:pt x="9095" y="9064"/>
                </a:moveTo>
                <a:cubicBezTo>
                  <a:pt x="9428" y="9064"/>
                  <a:pt x="9756" y="9064"/>
                  <a:pt x="10089" y="9064"/>
                </a:cubicBezTo>
                <a:cubicBezTo>
                  <a:pt x="10089" y="9938"/>
                  <a:pt x="10089" y="10815"/>
                  <a:pt x="10089" y="11689"/>
                </a:cubicBezTo>
                <a:cubicBezTo>
                  <a:pt x="10085" y="11944"/>
                  <a:pt x="9951" y="12186"/>
                  <a:pt x="9746" y="12336"/>
                </a:cubicBezTo>
                <a:cubicBezTo>
                  <a:pt x="9568" y="12471"/>
                  <a:pt x="9343" y="12544"/>
                  <a:pt x="9119" y="12548"/>
                </a:cubicBezTo>
                <a:cubicBezTo>
                  <a:pt x="9016" y="12548"/>
                  <a:pt x="8916" y="12548"/>
                  <a:pt x="8811" y="12548"/>
                </a:cubicBezTo>
                <a:cubicBezTo>
                  <a:pt x="8811" y="12393"/>
                  <a:pt x="8811" y="12244"/>
                  <a:pt x="8811" y="12089"/>
                </a:cubicBezTo>
                <a:cubicBezTo>
                  <a:pt x="8914" y="12089"/>
                  <a:pt x="9016" y="12089"/>
                  <a:pt x="9119" y="12089"/>
                </a:cubicBezTo>
                <a:cubicBezTo>
                  <a:pt x="9278" y="12085"/>
                  <a:pt x="9442" y="11994"/>
                  <a:pt x="9521" y="11854"/>
                </a:cubicBezTo>
                <a:cubicBezTo>
                  <a:pt x="9575" y="11765"/>
                  <a:pt x="9568" y="11660"/>
                  <a:pt x="9568" y="11559"/>
                </a:cubicBezTo>
                <a:cubicBezTo>
                  <a:pt x="9463" y="11559"/>
                  <a:pt x="9354" y="11559"/>
                  <a:pt x="9249" y="11559"/>
                </a:cubicBezTo>
                <a:cubicBezTo>
                  <a:pt x="9132" y="11559"/>
                  <a:pt x="9019" y="11568"/>
                  <a:pt x="8906" y="11524"/>
                </a:cubicBezTo>
                <a:cubicBezTo>
                  <a:pt x="8683" y="11448"/>
                  <a:pt x="8517" y="11227"/>
                  <a:pt x="8515" y="10994"/>
                </a:cubicBezTo>
                <a:cubicBezTo>
                  <a:pt x="8515" y="10544"/>
                  <a:pt x="8515" y="10102"/>
                  <a:pt x="8515" y="9652"/>
                </a:cubicBezTo>
                <a:cubicBezTo>
                  <a:pt x="8515" y="9504"/>
                  <a:pt x="8578" y="9347"/>
                  <a:pt x="8681" y="9240"/>
                </a:cubicBezTo>
                <a:cubicBezTo>
                  <a:pt x="8788" y="9128"/>
                  <a:pt x="8939" y="9064"/>
                  <a:pt x="9095" y="9064"/>
                </a:cubicBezTo>
                <a:close/>
                <a:moveTo>
                  <a:pt x="10444" y="9064"/>
                </a:moveTo>
                <a:cubicBezTo>
                  <a:pt x="11127" y="9064"/>
                  <a:pt x="11808" y="9064"/>
                  <a:pt x="12491" y="9064"/>
                </a:cubicBezTo>
                <a:cubicBezTo>
                  <a:pt x="12643" y="9064"/>
                  <a:pt x="12786" y="9124"/>
                  <a:pt x="12893" y="9229"/>
                </a:cubicBezTo>
                <a:cubicBezTo>
                  <a:pt x="13004" y="9337"/>
                  <a:pt x="13073" y="9486"/>
                  <a:pt x="13071" y="9641"/>
                </a:cubicBezTo>
                <a:cubicBezTo>
                  <a:pt x="13071" y="10279"/>
                  <a:pt x="13071" y="10920"/>
                  <a:pt x="13071" y="11559"/>
                </a:cubicBezTo>
                <a:cubicBezTo>
                  <a:pt x="12895" y="11559"/>
                  <a:pt x="12726" y="11559"/>
                  <a:pt x="12550" y="11559"/>
                </a:cubicBezTo>
                <a:cubicBezTo>
                  <a:pt x="12550" y="10940"/>
                  <a:pt x="12550" y="10318"/>
                  <a:pt x="12550" y="9699"/>
                </a:cubicBezTo>
                <a:cubicBezTo>
                  <a:pt x="12552" y="9605"/>
                  <a:pt x="12468" y="9519"/>
                  <a:pt x="12373" y="9523"/>
                </a:cubicBezTo>
                <a:cubicBezTo>
                  <a:pt x="12258" y="9523"/>
                  <a:pt x="12133" y="9523"/>
                  <a:pt x="12018" y="9523"/>
                </a:cubicBezTo>
                <a:cubicBezTo>
                  <a:pt x="12018" y="10200"/>
                  <a:pt x="12018" y="10882"/>
                  <a:pt x="12018" y="11559"/>
                </a:cubicBezTo>
                <a:cubicBezTo>
                  <a:pt x="11842" y="11559"/>
                  <a:pt x="11673" y="11559"/>
                  <a:pt x="11497" y="11559"/>
                </a:cubicBezTo>
                <a:cubicBezTo>
                  <a:pt x="11497" y="10882"/>
                  <a:pt x="11497" y="10200"/>
                  <a:pt x="11497" y="9523"/>
                </a:cubicBezTo>
                <a:cubicBezTo>
                  <a:pt x="11321" y="9523"/>
                  <a:pt x="11140" y="9523"/>
                  <a:pt x="10965" y="9523"/>
                </a:cubicBezTo>
                <a:cubicBezTo>
                  <a:pt x="10965" y="10200"/>
                  <a:pt x="10965" y="10882"/>
                  <a:pt x="10965" y="11559"/>
                </a:cubicBezTo>
                <a:lnTo>
                  <a:pt x="10444" y="11559"/>
                </a:lnTo>
                <a:cubicBezTo>
                  <a:pt x="10444" y="10728"/>
                  <a:pt x="10444" y="9895"/>
                  <a:pt x="10444" y="9064"/>
                </a:cubicBezTo>
                <a:close/>
                <a:moveTo>
                  <a:pt x="9213" y="9523"/>
                </a:moveTo>
                <a:cubicBezTo>
                  <a:pt x="9122" y="9523"/>
                  <a:pt x="9044" y="9609"/>
                  <a:pt x="9048" y="9699"/>
                </a:cubicBezTo>
                <a:lnTo>
                  <a:pt x="9036" y="9699"/>
                </a:lnTo>
                <a:cubicBezTo>
                  <a:pt x="9036" y="10105"/>
                  <a:pt x="9036" y="10508"/>
                  <a:pt x="9036" y="10912"/>
                </a:cubicBezTo>
                <a:cubicBezTo>
                  <a:pt x="9032" y="11002"/>
                  <a:pt x="9120" y="11086"/>
                  <a:pt x="9213" y="11088"/>
                </a:cubicBezTo>
                <a:cubicBezTo>
                  <a:pt x="9332" y="11088"/>
                  <a:pt x="9447" y="11088"/>
                  <a:pt x="9568" y="11088"/>
                </a:cubicBezTo>
                <a:cubicBezTo>
                  <a:pt x="9568" y="10566"/>
                  <a:pt x="9568" y="10047"/>
                  <a:pt x="9568" y="9523"/>
                </a:cubicBezTo>
                <a:cubicBezTo>
                  <a:pt x="9449" y="9523"/>
                  <a:pt x="9332" y="9523"/>
                  <a:pt x="9213" y="9523"/>
                </a:cubicBezTo>
                <a:close/>
                <a:moveTo>
                  <a:pt x="17366" y="10088"/>
                </a:moveTo>
                <a:cubicBezTo>
                  <a:pt x="17344" y="10098"/>
                  <a:pt x="17336" y="10127"/>
                  <a:pt x="17343" y="10147"/>
                </a:cubicBezTo>
                <a:cubicBezTo>
                  <a:pt x="17345" y="10155"/>
                  <a:pt x="17358" y="10158"/>
                  <a:pt x="17366" y="10170"/>
                </a:cubicBezTo>
                <a:cubicBezTo>
                  <a:pt x="17427" y="10265"/>
                  <a:pt x="17750" y="10778"/>
                  <a:pt x="17769" y="10806"/>
                </a:cubicBezTo>
                <a:cubicBezTo>
                  <a:pt x="17789" y="10836"/>
                  <a:pt x="17823" y="10880"/>
                  <a:pt x="17851" y="10912"/>
                </a:cubicBezTo>
                <a:cubicBezTo>
                  <a:pt x="17890" y="10954"/>
                  <a:pt x="17923" y="10986"/>
                  <a:pt x="17970" y="11006"/>
                </a:cubicBezTo>
                <a:cubicBezTo>
                  <a:pt x="18018" y="11028"/>
                  <a:pt x="18090" y="11039"/>
                  <a:pt x="18195" y="11041"/>
                </a:cubicBezTo>
                <a:cubicBezTo>
                  <a:pt x="18255" y="11041"/>
                  <a:pt x="18337" y="11041"/>
                  <a:pt x="18419" y="11041"/>
                </a:cubicBezTo>
                <a:cubicBezTo>
                  <a:pt x="18702" y="11041"/>
                  <a:pt x="19678" y="11041"/>
                  <a:pt x="19934" y="11041"/>
                </a:cubicBezTo>
                <a:cubicBezTo>
                  <a:pt x="19987" y="11041"/>
                  <a:pt x="19990" y="11041"/>
                  <a:pt x="20029" y="11041"/>
                </a:cubicBezTo>
                <a:cubicBezTo>
                  <a:pt x="20126" y="11045"/>
                  <a:pt x="20196" y="11108"/>
                  <a:pt x="20206" y="11206"/>
                </a:cubicBezTo>
                <a:cubicBezTo>
                  <a:pt x="20208" y="11236"/>
                  <a:pt x="20206" y="11284"/>
                  <a:pt x="20206" y="11300"/>
                </a:cubicBezTo>
                <a:cubicBezTo>
                  <a:pt x="20206" y="11350"/>
                  <a:pt x="20208" y="11403"/>
                  <a:pt x="20206" y="11453"/>
                </a:cubicBezTo>
                <a:cubicBezTo>
                  <a:pt x="19940" y="16647"/>
                  <a:pt x="15612" y="20776"/>
                  <a:pt x="10326" y="20776"/>
                </a:cubicBezTo>
                <a:cubicBezTo>
                  <a:pt x="5561" y="20776"/>
                  <a:pt x="1595" y="17423"/>
                  <a:pt x="658" y="12960"/>
                </a:cubicBezTo>
                <a:lnTo>
                  <a:pt x="161" y="12960"/>
                </a:lnTo>
                <a:cubicBezTo>
                  <a:pt x="296" y="13625"/>
                  <a:pt x="488" y="14264"/>
                  <a:pt x="741" y="14879"/>
                </a:cubicBezTo>
                <a:cubicBezTo>
                  <a:pt x="2360" y="18821"/>
                  <a:pt x="6252" y="21600"/>
                  <a:pt x="10799" y="21600"/>
                </a:cubicBezTo>
                <a:cubicBezTo>
                  <a:pt x="14593" y="21600"/>
                  <a:pt x="17933" y="19661"/>
                  <a:pt x="19875" y="16727"/>
                </a:cubicBezTo>
                <a:cubicBezTo>
                  <a:pt x="20899" y="15142"/>
                  <a:pt x="21512" y="13271"/>
                  <a:pt x="21579" y="11265"/>
                </a:cubicBezTo>
                <a:cubicBezTo>
                  <a:pt x="21583" y="11144"/>
                  <a:pt x="21593" y="10828"/>
                  <a:pt x="21579" y="10629"/>
                </a:cubicBezTo>
                <a:lnTo>
                  <a:pt x="21567" y="10629"/>
                </a:lnTo>
                <a:cubicBezTo>
                  <a:pt x="21557" y="10481"/>
                  <a:pt x="21544" y="10314"/>
                  <a:pt x="21425" y="10206"/>
                </a:cubicBezTo>
                <a:cubicBezTo>
                  <a:pt x="21324" y="10113"/>
                  <a:pt x="21215" y="10110"/>
                  <a:pt x="21082" y="10100"/>
                </a:cubicBezTo>
                <a:cubicBezTo>
                  <a:pt x="20957" y="10092"/>
                  <a:pt x="20702" y="10088"/>
                  <a:pt x="20585" y="10088"/>
                </a:cubicBezTo>
                <a:lnTo>
                  <a:pt x="17425" y="10088"/>
                </a:lnTo>
                <a:cubicBezTo>
                  <a:pt x="17395" y="10088"/>
                  <a:pt x="17376" y="10082"/>
                  <a:pt x="17366" y="10088"/>
                </a:cubicBezTo>
                <a:close/>
                <a:moveTo>
                  <a:pt x="10444" y="12077"/>
                </a:moveTo>
                <a:cubicBezTo>
                  <a:pt x="11300" y="12077"/>
                  <a:pt x="12155" y="12077"/>
                  <a:pt x="13012" y="12077"/>
                </a:cubicBezTo>
                <a:cubicBezTo>
                  <a:pt x="13012" y="12232"/>
                  <a:pt x="13012" y="12393"/>
                  <a:pt x="13012" y="12548"/>
                </a:cubicBezTo>
                <a:cubicBezTo>
                  <a:pt x="12155" y="12548"/>
                  <a:pt x="11300" y="12548"/>
                  <a:pt x="10444" y="12548"/>
                </a:cubicBezTo>
                <a:cubicBezTo>
                  <a:pt x="10444" y="12393"/>
                  <a:pt x="10444" y="12232"/>
                  <a:pt x="10444" y="1207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9325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2304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gradFill>
          <a:gsLst>
            <a:gs pos="0">
              <a:schemeClr val="bg1">
                <a:lumMod val="40000"/>
                <a:lumOff val="60000"/>
              </a:schemeClr>
            </a:gs>
            <a:gs pos="100000">
              <a:schemeClr val="bg1">
                <a:lumMod val="75000"/>
                <a:lumOff val="25000"/>
              </a:schemeClr>
            </a:gs>
          </a:gsLst>
          <a:lin ang="13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0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83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84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7" name="形状"/>
          <p:cNvSpPr/>
          <p:nvPr/>
        </p:nvSpPr>
        <p:spPr>
          <a:xfrm>
            <a:off x="4598910" y="2559845"/>
            <a:ext cx="2994180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0615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95A21-9AB0-60D8-EB03-2303FE0B6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A3DBFA-5FFF-D5C0-7260-D4E8FB6D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99BDAB-B6A7-D9FF-2BFE-25629EC3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CDAC-A978-4F26-97DA-B8F4854E95F3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2EB2C8-85E7-6E7D-3424-DEB87678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4B00C-7AC6-FD27-3A8C-ED719D82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9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736600" y="387311"/>
            <a:ext cx="8890000" cy="365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736600" y="1509983"/>
            <a:ext cx="10717160" cy="43856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5683" y="6386645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700" cap="none">
                <a:solidFill>
                  <a:srgbClr val="26282A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线条"/>
          <p:cNvSpPr/>
          <p:nvPr/>
        </p:nvSpPr>
        <p:spPr>
          <a:xfrm>
            <a:off x="736600" y="886637"/>
            <a:ext cx="10729397" cy="1"/>
          </a:xfrm>
          <a:prstGeom prst="line">
            <a:avLst/>
          </a:prstGeom>
          <a:ln w="6350">
            <a:solidFill>
              <a:srgbClr val="848A9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0" name="成组"/>
          <p:cNvGrpSpPr/>
          <p:nvPr/>
        </p:nvGrpSpPr>
        <p:grpSpPr>
          <a:xfrm>
            <a:off x="11092557" y="369960"/>
            <a:ext cx="361951" cy="364086"/>
            <a:chOff x="0" y="0"/>
            <a:chExt cx="361950" cy="364084"/>
          </a:xfrm>
        </p:grpSpPr>
        <p:sp>
          <p:nvSpPr>
            <p:cNvPr id="12" name="形状"/>
            <p:cNvSpPr/>
            <p:nvPr/>
          </p:nvSpPr>
          <p:spPr>
            <a:xfrm>
              <a:off x="79698" y="24209"/>
              <a:ext cx="202520" cy="315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12478" y="1024"/>
                  </a:moveTo>
                  <a:cubicBezTo>
                    <a:pt x="12246" y="788"/>
                    <a:pt x="12268" y="806"/>
                    <a:pt x="12100" y="644"/>
                  </a:cubicBezTo>
                  <a:cubicBezTo>
                    <a:pt x="11932" y="482"/>
                    <a:pt x="11810" y="378"/>
                    <a:pt x="11642" y="266"/>
                  </a:cubicBezTo>
                  <a:cubicBezTo>
                    <a:pt x="11395" y="104"/>
                    <a:pt x="11059" y="0"/>
                    <a:pt x="10702" y="0"/>
                  </a:cubicBezTo>
                  <a:cubicBezTo>
                    <a:pt x="10366" y="0"/>
                    <a:pt x="10019" y="79"/>
                    <a:pt x="9751" y="266"/>
                  </a:cubicBezTo>
                  <a:cubicBezTo>
                    <a:pt x="9579" y="385"/>
                    <a:pt x="9415" y="535"/>
                    <a:pt x="9297" y="646"/>
                  </a:cubicBezTo>
                  <a:cubicBezTo>
                    <a:pt x="9182" y="755"/>
                    <a:pt x="9139" y="799"/>
                    <a:pt x="8914" y="1026"/>
                  </a:cubicBezTo>
                  <a:cubicBezTo>
                    <a:pt x="8414" y="1536"/>
                    <a:pt x="3184" y="6844"/>
                    <a:pt x="2554" y="7488"/>
                  </a:cubicBezTo>
                  <a:cubicBezTo>
                    <a:pt x="1321" y="8748"/>
                    <a:pt x="828" y="9237"/>
                    <a:pt x="334" y="9881"/>
                  </a:cubicBezTo>
                  <a:cubicBezTo>
                    <a:pt x="-109" y="10463"/>
                    <a:pt x="-109" y="11132"/>
                    <a:pt x="316" y="11702"/>
                  </a:cubicBezTo>
                  <a:cubicBezTo>
                    <a:pt x="753" y="12284"/>
                    <a:pt x="1285" y="12826"/>
                    <a:pt x="2565" y="14124"/>
                  </a:cubicBezTo>
                  <a:cubicBezTo>
                    <a:pt x="2604" y="14163"/>
                    <a:pt x="7499" y="19144"/>
                    <a:pt x="8904" y="20576"/>
                  </a:cubicBezTo>
                  <a:cubicBezTo>
                    <a:pt x="9136" y="20812"/>
                    <a:pt x="9114" y="20794"/>
                    <a:pt x="9282" y="20956"/>
                  </a:cubicBezTo>
                  <a:cubicBezTo>
                    <a:pt x="9454" y="21118"/>
                    <a:pt x="9572" y="21222"/>
                    <a:pt x="9740" y="21334"/>
                  </a:cubicBezTo>
                  <a:cubicBezTo>
                    <a:pt x="9987" y="21496"/>
                    <a:pt x="10323" y="21600"/>
                    <a:pt x="10680" y="21600"/>
                  </a:cubicBezTo>
                  <a:cubicBezTo>
                    <a:pt x="11016" y="21600"/>
                    <a:pt x="11363" y="21521"/>
                    <a:pt x="11631" y="21334"/>
                  </a:cubicBezTo>
                  <a:cubicBezTo>
                    <a:pt x="11803" y="21215"/>
                    <a:pt x="11967" y="21065"/>
                    <a:pt x="12085" y="20954"/>
                  </a:cubicBezTo>
                  <a:cubicBezTo>
                    <a:pt x="12200" y="20845"/>
                    <a:pt x="12243" y="20801"/>
                    <a:pt x="12468" y="20574"/>
                  </a:cubicBezTo>
                  <a:cubicBezTo>
                    <a:pt x="12968" y="20064"/>
                    <a:pt x="18198" y="14756"/>
                    <a:pt x="18828" y="14112"/>
                  </a:cubicBezTo>
                  <a:cubicBezTo>
                    <a:pt x="20061" y="12852"/>
                    <a:pt x="20554" y="12363"/>
                    <a:pt x="21048" y="11719"/>
                  </a:cubicBezTo>
                  <a:cubicBezTo>
                    <a:pt x="21491" y="11137"/>
                    <a:pt x="21491" y="10468"/>
                    <a:pt x="21066" y="9898"/>
                  </a:cubicBezTo>
                  <a:cubicBezTo>
                    <a:pt x="20629" y="9316"/>
                    <a:pt x="20097" y="8774"/>
                    <a:pt x="18817" y="7476"/>
                  </a:cubicBezTo>
                  <a:cubicBezTo>
                    <a:pt x="18778" y="7437"/>
                    <a:pt x="13883" y="2456"/>
                    <a:pt x="12478" y="1024"/>
                  </a:cubicBezTo>
                  <a:close/>
                  <a:moveTo>
                    <a:pt x="17101" y="13934"/>
                  </a:moveTo>
                  <a:cubicBezTo>
                    <a:pt x="17079" y="14186"/>
                    <a:pt x="16922" y="14432"/>
                    <a:pt x="16654" y="14615"/>
                  </a:cubicBezTo>
                  <a:cubicBezTo>
                    <a:pt x="16364" y="14819"/>
                    <a:pt x="15950" y="14941"/>
                    <a:pt x="15524" y="14955"/>
                  </a:cubicBezTo>
                  <a:lnTo>
                    <a:pt x="5858" y="14955"/>
                  </a:lnTo>
                  <a:cubicBezTo>
                    <a:pt x="5461" y="14941"/>
                    <a:pt x="5071" y="14835"/>
                    <a:pt x="4785" y="14654"/>
                  </a:cubicBezTo>
                  <a:cubicBezTo>
                    <a:pt x="4485" y="14466"/>
                    <a:pt x="4303" y="14205"/>
                    <a:pt x="4281" y="13936"/>
                  </a:cubicBezTo>
                  <a:lnTo>
                    <a:pt x="4281" y="7669"/>
                  </a:lnTo>
                  <a:cubicBezTo>
                    <a:pt x="4303" y="7393"/>
                    <a:pt x="4492" y="7124"/>
                    <a:pt x="4807" y="6937"/>
                  </a:cubicBezTo>
                  <a:cubicBezTo>
                    <a:pt x="5089" y="6763"/>
                    <a:pt x="5468" y="6663"/>
                    <a:pt x="5854" y="6647"/>
                  </a:cubicBezTo>
                  <a:lnTo>
                    <a:pt x="15521" y="6647"/>
                  </a:lnTo>
                  <a:cubicBezTo>
                    <a:pt x="15889" y="6661"/>
                    <a:pt x="16250" y="6751"/>
                    <a:pt x="16529" y="6911"/>
                  </a:cubicBezTo>
                  <a:cubicBezTo>
                    <a:pt x="16869" y="7099"/>
                    <a:pt x="17072" y="7379"/>
                    <a:pt x="17097" y="7669"/>
                  </a:cubicBezTo>
                  <a:lnTo>
                    <a:pt x="17097" y="13934"/>
                  </a:lnTo>
                  <a:close/>
                </a:path>
              </a:pathLst>
            </a:custGeom>
            <a:solidFill>
              <a:srgbClr val="C11656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形状"/>
            <p:cNvSpPr/>
            <p:nvPr/>
          </p:nvSpPr>
          <p:spPr>
            <a:xfrm>
              <a:off x="128104" y="129198"/>
              <a:ext cx="105742" cy="10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535" y="91"/>
                  </a:moveTo>
                  <a:cubicBezTo>
                    <a:pt x="20210" y="-33"/>
                    <a:pt x="19857" y="8"/>
                    <a:pt x="19518" y="2"/>
                  </a:cubicBezTo>
                  <a:cubicBezTo>
                    <a:pt x="13501" y="2"/>
                    <a:pt x="7484" y="2"/>
                    <a:pt x="1473" y="2"/>
                  </a:cubicBezTo>
                  <a:cubicBezTo>
                    <a:pt x="906" y="43"/>
                    <a:pt x="387" y="409"/>
                    <a:pt x="152" y="919"/>
                  </a:cubicBezTo>
                  <a:cubicBezTo>
                    <a:pt x="48" y="1133"/>
                    <a:pt x="0" y="1375"/>
                    <a:pt x="0" y="1609"/>
                  </a:cubicBezTo>
                  <a:cubicBezTo>
                    <a:pt x="0" y="7731"/>
                    <a:pt x="0" y="13859"/>
                    <a:pt x="0" y="19980"/>
                  </a:cubicBezTo>
                  <a:cubicBezTo>
                    <a:pt x="0" y="20704"/>
                    <a:pt x="560" y="21381"/>
                    <a:pt x="1273" y="21519"/>
                  </a:cubicBezTo>
                  <a:cubicBezTo>
                    <a:pt x="1487" y="21567"/>
                    <a:pt x="1708" y="21546"/>
                    <a:pt x="1923" y="21553"/>
                  </a:cubicBezTo>
                  <a:lnTo>
                    <a:pt x="19982" y="21553"/>
                  </a:lnTo>
                  <a:cubicBezTo>
                    <a:pt x="20431" y="21553"/>
                    <a:pt x="20881" y="21360"/>
                    <a:pt x="21185" y="21029"/>
                  </a:cubicBezTo>
                  <a:cubicBezTo>
                    <a:pt x="21455" y="20739"/>
                    <a:pt x="21600" y="20339"/>
                    <a:pt x="21600" y="19945"/>
                  </a:cubicBezTo>
                  <a:cubicBezTo>
                    <a:pt x="21600" y="13824"/>
                    <a:pt x="21600" y="7703"/>
                    <a:pt x="21600" y="1575"/>
                  </a:cubicBezTo>
                  <a:cubicBezTo>
                    <a:pt x="21600" y="919"/>
                    <a:pt x="21150" y="305"/>
                    <a:pt x="20535" y="91"/>
                  </a:cubicBezTo>
                  <a:close/>
                  <a:moveTo>
                    <a:pt x="8403" y="13790"/>
                  </a:moveTo>
                  <a:cubicBezTo>
                    <a:pt x="8403" y="14680"/>
                    <a:pt x="7919" y="15522"/>
                    <a:pt x="7207" y="16046"/>
                  </a:cubicBezTo>
                  <a:cubicBezTo>
                    <a:pt x="6598" y="16509"/>
                    <a:pt x="5831" y="16750"/>
                    <a:pt x="5063" y="16764"/>
                  </a:cubicBezTo>
                  <a:cubicBezTo>
                    <a:pt x="4710" y="16764"/>
                    <a:pt x="4357" y="16764"/>
                    <a:pt x="3998" y="16764"/>
                  </a:cubicBezTo>
                  <a:cubicBezTo>
                    <a:pt x="3998" y="16233"/>
                    <a:pt x="3998" y="15701"/>
                    <a:pt x="3998" y="15170"/>
                  </a:cubicBezTo>
                  <a:cubicBezTo>
                    <a:pt x="4350" y="15170"/>
                    <a:pt x="4710" y="15170"/>
                    <a:pt x="5063" y="15170"/>
                  </a:cubicBezTo>
                  <a:cubicBezTo>
                    <a:pt x="5609" y="15156"/>
                    <a:pt x="6163" y="14873"/>
                    <a:pt x="6432" y="14390"/>
                  </a:cubicBezTo>
                  <a:cubicBezTo>
                    <a:pt x="6619" y="14086"/>
                    <a:pt x="6598" y="13721"/>
                    <a:pt x="6598" y="13376"/>
                  </a:cubicBezTo>
                  <a:cubicBezTo>
                    <a:pt x="6239" y="13376"/>
                    <a:pt x="5886" y="13376"/>
                    <a:pt x="5526" y="13376"/>
                  </a:cubicBezTo>
                  <a:cubicBezTo>
                    <a:pt x="5125" y="13376"/>
                    <a:pt x="4710" y="13410"/>
                    <a:pt x="4323" y="13258"/>
                  </a:cubicBezTo>
                  <a:cubicBezTo>
                    <a:pt x="3562" y="12996"/>
                    <a:pt x="3002" y="12237"/>
                    <a:pt x="2995" y="11436"/>
                  </a:cubicBezTo>
                  <a:cubicBezTo>
                    <a:pt x="2995" y="9891"/>
                    <a:pt x="2995" y="8345"/>
                    <a:pt x="2995" y="6799"/>
                  </a:cubicBezTo>
                  <a:cubicBezTo>
                    <a:pt x="2995" y="6288"/>
                    <a:pt x="3195" y="5778"/>
                    <a:pt x="3548" y="5412"/>
                  </a:cubicBezTo>
                  <a:cubicBezTo>
                    <a:pt x="3915" y="5025"/>
                    <a:pt x="4447" y="4798"/>
                    <a:pt x="4980" y="4798"/>
                  </a:cubicBezTo>
                  <a:cubicBezTo>
                    <a:pt x="6121" y="4798"/>
                    <a:pt x="7255" y="4798"/>
                    <a:pt x="8397" y="4798"/>
                  </a:cubicBezTo>
                  <a:cubicBezTo>
                    <a:pt x="8397" y="7800"/>
                    <a:pt x="8397" y="10795"/>
                    <a:pt x="8397" y="13797"/>
                  </a:cubicBezTo>
                  <a:close/>
                  <a:moveTo>
                    <a:pt x="18398" y="16757"/>
                  </a:moveTo>
                  <a:cubicBezTo>
                    <a:pt x="15465" y="16757"/>
                    <a:pt x="12533" y="16757"/>
                    <a:pt x="9600" y="16757"/>
                  </a:cubicBezTo>
                  <a:cubicBezTo>
                    <a:pt x="9600" y="16226"/>
                    <a:pt x="9600" y="15694"/>
                    <a:pt x="9600" y="15163"/>
                  </a:cubicBezTo>
                  <a:cubicBezTo>
                    <a:pt x="12533" y="15163"/>
                    <a:pt x="15465" y="15163"/>
                    <a:pt x="18398" y="15163"/>
                  </a:cubicBezTo>
                  <a:cubicBezTo>
                    <a:pt x="18398" y="15694"/>
                    <a:pt x="18398" y="16226"/>
                    <a:pt x="18398" y="16757"/>
                  </a:cubicBezTo>
                  <a:close/>
                  <a:moveTo>
                    <a:pt x="18598" y="13369"/>
                  </a:moveTo>
                  <a:cubicBezTo>
                    <a:pt x="17997" y="13369"/>
                    <a:pt x="17402" y="13369"/>
                    <a:pt x="16800" y="13369"/>
                  </a:cubicBezTo>
                  <a:cubicBezTo>
                    <a:pt x="16800" y="11243"/>
                    <a:pt x="16800" y="9111"/>
                    <a:pt x="16800" y="6985"/>
                  </a:cubicBezTo>
                  <a:cubicBezTo>
                    <a:pt x="16807" y="6661"/>
                    <a:pt x="16516" y="6371"/>
                    <a:pt x="16191" y="6385"/>
                  </a:cubicBezTo>
                  <a:cubicBezTo>
                    <a:pt x="15797" y="6385"/>
                    <a:pt x="15396" y="6385"/>
                    <a:pt x="15002" y="6385"/>
                  </a:cubicBezTo>
                  <a:cubicBezTo>
                    <a:pt x="15002" y="8711"/>
                    <a:pt x="15002" y="11043"/>
                    <a:pt x="15002" y="13369"/>
                  </a:cubicBezTo>
                  <a:cubicBezTo>
                    <a:pt x="14400" y="13369"/>
                    <a:pt x="13805" y="13369"/>
                    <a:pt x="13203" y="13369"/>
                  </a:cubicBezTo>
                  <a:cubicBezTo>
                    <a:pt x="13203" y="11043"/>
                    <a:pt x="13203" y="8711"/>
                    <a:pt x="13203" y="6385"/>
                  </a:cubicBezTo>
                  <a:cubicBezTo>
                    <a:pt x="12602" y="6385"/>
                    <a:pt x="12007" y="6385"/>
                    <a:pt x="11405" y="6385"/>
                  </a:cubicBezTo>
                  <a:cubicBezTo>
                    <a:pt x="11405" y="8711"/>
                    <a:pt x="11405" y="11043"/>
                    <a:pt x="11405" y="13369"/>
                  </a:cubicBezTo>
                  <a:lnTo>
                    <a:pt x="9607" y="13369"/>
                  </a:lnTo>
                  <a:cubicBezTo>
                    <a:pt x="9607" y="10512"/>
                    <a:pt x="9607" y="7648"/>
                    <a:pt x="9607" y="4791"/>
                  </a:cubicBezTo>
                  <a:cubicBezTo>
                    <a:pt x="11945" y="4791"/>
                    <a:pt x="14282" y="4791"/>
                    <a:pt x="16620" y="4791"/>
                  </a:cubicBezTo>
                  <a:cubicBezTo>
                    <a:pt x="17139" y="4791"/>
                    <a:pt x="17644" y="5005"/>
                    <a:pt x="18010" y="5364"/>
                  </a:cubicBezTo>
                  <a:cubicBezTo>
                    <a:pt x="18391" y="5736"/>
                    <a:pt x="18612" y="6261"/>
                    <a:pt x="18605" y="6792"/>
                  </a:cubicBezTo>
                  <a:cubicBezTo>
                    <a:pt x="18605" y="8987"/>
                    <a:pt x="18605" y="11174"/>
                    <a:pt x="18605" y="13369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形状"/>
            <p:cNvSpPr/>
            <p:nvPr/>
          </p:nvSpPr>
          <p:spPr>
            <a:xfrm>
              <a:off x="151599" y="160491"/>
              <a:ext cx="8841" cy="26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600" extrusionOk="0">
                  <a:moveTo>
                    <a:pt x="6" y="2434"/>
                  </a:moveTo>
                  <a:cubicBezTo>
                    <a:pt x="6" y="8020"/>
                    <a:pt x="6" y="13607"/>
                    <a:pt x="6" y="19166"/>
                  </a:cubicBezTo>
                  <a:cubicBezTo>
                    <a:pt x="-158" y="20411"/>
                    <a:pt x="3045" y="21572"/>
                    <a:pt x="6823" y="21600"/>
                  </a:cubicBezTo>
                  <a:cubicBezTo>
                    <a:pt x="11669" y="21600"/>
                    <a:pt x="16514" y="21600"/>
                    <a:pt x="21442" y="21600"/>
                  </a:cubicBezTo>
                  <a:cubicBezTo>
                    <a:pt x="21442" y="14409"/>
                    <a:pt x="21442" y="7218"/>
                    <a:pt x="21442" y="0"/>
                  </a:cubicBezTo>
                  <a:cubicBezTo>
                    <a:pt x="16596" y="0"/>
                    <a:pt x="11751" y="0"/>
                    <a:pt x="6905" y="0"/>
                  </a:cubicBezTo>
                  <a:cubicBezTo>
                    <a:pt x="3209" y="0"/>
                    <a:pt x="-76" y="1162"/>
                    <a:pt x="88" y="2406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形状"/>
            <p:cNvSpPr/>
            <p:nvPr/>
          </p:nvSpPr>
          <p:spPr>
            <a:xfrm>
              <a:off x="0" y="0"/>
              <a:ext cx="359361" cy="194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512" y="21577"/>
                  </a:moveTo>
                  <a:cubicBezTo>
                    <a:pt x="638" y="21592"/>
                    <a:pt x="894" y="21600"/>
                    <a:pt x="1012" y="21600"/>
                  </a:cubicBezTo>
                  <a:lnTo>
                    <a:pt x="4193" y="21600"/>
                  </a:lnTo>
                  <a:cubicBezTo>
                    <a:pt x="4223" y="21600"/>
                    <a:pt x="4238" y="21600"/>
                    <a:pt x="4248" y="21589"/>
                  </a:cubicBezTo>
                  <a:cubicBezTo>
                    <a:pt x="4270" y="21570"/>
                    <a:pt x="4276" y="21528"/>
                    <a:pt x="4270" y="21491"/>
                  </a:cubicBezTo>
                  <a:cubicBezTo>
                    <a:pt x="4268" y="21476"/>
                    <a:pt x="4264" y="21457"/>
                    <a:pt x="4256" y="21434"/>
                  </a:cubicBezTo>
                  <a:cubicBezTo>
                    <a:pt x="4195" y="21257"/>
                    <a:pt x="3861" y="20289"/>
                    <a:pt x="3843" y="20237"/>
                  </a:cubicBezTo>
                  <a:cubicBezTo>
                    <a:pt x="3823" y="20180"/>
                    <a:pt x="3796" y="20109"/>
                    <a:pt x="3768" y="20048"/>
                  </a:cubicBezTo>
                  <a:cubicBezTo>
                    <a:pt x="3729" y="19969"/>
                    <a:pt x="3694" y="19913"/>
                    <a:pt x="3648" y="19875"/>
                  </a:cubicBezTo>
                  <a:cubicBezTo>
                    <a:pt x="3599" y="19834"/>
                    <a:pt x="3523" y="19811"/>
                    <a:pt x="3418" y="19807"/>
                  </a:cubicBezTo>
                  <a:cubicBezTo>
                    <a:pt x="3357" y="19807"/>
                    <a:pt x="3275" y="19803"/>
                    <a:pt x="3192" y="19803"/>
                  </a:cubicBezTo>
                  <a:cubicBezTo>
                    <a:pt x="2907" y="19803"/>
                    <a:pt x="1922" y="19803"/>
                    <a:pt x="1664" y="19803"/>
                  </a:cubicBezTo>
                  <a:cubicBezTo>
                    <a:pt x="1611" y="19803"/>
                    <a:pt x="1607" y="19803"/>
                    <a:pt x="1568" y="19803"/>
                  </a:cubicBezTo>
                  <a:cubicBezTo>
                    <a:pt x="1470" y="19796"/>
                    <a:pt x="1399" y="19675"/>
                    <a:pt x="1389" y="19491"/>
                  </a:cubicBezTo>
                  <a:cubicBezTo>
                    <a:pt x="1387" y="19434"/>
                    <a:pt x="1389" y="19355"/>
                    <a:pt x="1389" y="19325"/>
                  </a:cubicBezTo>
                  <a:cubicBezTo>
                    <a:pt x="1389" y="19231"/>
                    <a:pt x="1393" y="19133"/>
                    <a:pt x="1395" y="19039"/>
                  </a:cubicBezTo>
                  <a:cubicBezTo>
                    <a:pt x="1664" y="9299"/>
                    <a:pt x="6016" y="1556"/>
                    <a:pt x="11343" y="1556"/>
                  </a:cubicBezTo>
                  <a:cubicBezTo>
                    <a:pt x="16146" y="1556"/>
                    <a:pt x="20152" y="7842"/>
                    <a:pt x="21096" y="16210"/>
                  </a:cubicBezTo>
                  <a:lnTo>
                    <a:pt x="21597" y="16210"/>
                  </a:lnTo>
                  <a:cubicBezTo>
                    <a:pt x="21461" y="14964"/>
                    <a:pt x="21261" y="13758"/>
                    <a:pt x="21007" y="12606"/>
                  </a:cubicBezTo>
                  <a:cubicBezTo>
                    <a:pt x="19375" y="5213"/>
                    <a:pt x="15454" y="0"/>
                    <a:pt x="10871" y="0"/>
                  </a:cubicBezTo>
                  <a:cubicBezTo>
                    <a:pt x="7048" y="0"/>
                    <a:pt x="3682" y="3631"/>
                    <a:pt x="1725" y="9133"/>
                  </a:cubicBezTo>
                  <a:cubicBezTo>
                    <a:pt x="693" y="12105"/>
                    <a:pt x="70" y="15612"/>
                    <a:pt x="3" y="19374"/>
                  </a:cubicBezTo>
                  <a:cubicBezTo>
                    <a:pt x="-1" y="19600"/>
                    <a:pt x="-3" y="20206"/>
                    <a:pt x="11" y="20579"/>
                  </a:cubicBezTo>
                  <a:cubicBezTo>
                    <a:pt x="21" y="20858"/>
                    <a:pt x="30" y="21167"/>
                    <a:pt x="150" y="21370"/>
                  </a:cubicBezTo>
                  <a:cubicBezTo>
                    <a:pt x="251" y="21544"/>
                    <a:pt x="371" y="21566"/>
                    <a:pt x="506" y="21585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形状"/>
            <p:cNvSpPr/>
            <p:nvPr/>
          </p:nvSpPr>
          <p:spPr>
            <a:xfrm>
              <a:off x="2589" y="169903"/>
              <a:ext cx="359362" cy="19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580" y="1028"/>
                  </a:moveTo>
                  <a:cubicBezTo>
                    <a:pt x="21569" y="750"/>
                    <a:pt x="21561" y="441"/>
                    <a:pt x="21441" y="237"/>
                  </a:cubicBezTo>
                  <a:cubicBezTo>
                    <a:pt x="21340" y="64"/>
                    <a:pt x="21219" y="41"/>
                    <a:pt x="21085" y="23"/>
                  </a:cubicBezTo>
                  <a:cubicBezTo>
                    <a:pt x="20959" y="8"/>
                    <a:pt x="20703" y="0"/>
                    <a:pt x="20585" y="0"/>
                  </a:cubicBezTo>
                  <a:lnTo>
                    <a:pt x="17404" y="0"/>
                  </a:lnTo>
                  <a:cubicBezTo>
                    <a:pt x="17374" y="0"/>
                    <a:pt x="17359" y="0"/>
                    <a:pt x="17349" y="11"/>
                  </a:cubicBezTo>
                  <a:cubicBezTo>
                    <a:pt x="17327" y="30"/>
                    <a:pt x="17321" y="72"/>
                    <a:pt x="17327" y="109"/>
                  </a:cubicBezTo>
                  <a:cubicBezTo>
                    <a:pt x="17329" y="124"/>
                    <a:pt x="17333" y="143"/>
                    <a:pt x="17341" y="166"/>
                  </a:cubicBezTo>
                  <a:cubicBezTo>
                    <a:pt x="17402" y="343"/>
                    <a:pt x="17736" y="1311"/>
                    <a:pt x="17754" y="1363"/>
                  </a:cubicBezTo>
                  <a:cubicBezTo>
                    <a:pt x="17774" y="1420"/>
                    <a:pt x="17801" y="1491"/>
                    <a:pt x="17829" y="1552"/>
                  </a:cubicBezTo>
                  <a:cubicBezTo>
                    <a:pt x="17868" y="1631"/>
                    <a:pt x="17903" y="1687"/>
                    <a:pt x="17949" y="1725"/>
                  </a:cubicBezTo>
                  <a:cubicBezTo>
                    <a:pt x="17998" y="1766"/>
                    <a:pt x="18074" y="1789"/>
                    <a:pt x="18179" y="1793"/>
                  </a:cubicBezTo>
                  <a:cubicBezTo>
                    <a:pt x="18240" y="1793"/>
                    <a:pt x="18322" y="1797"/>
                    <a:pt x="18405" y="1797"/>
                  </a:cubicBezTo>
                  <a:cubicBezTo>
                    <a:pt x="18690" y="1797"/>
                    <a:pt x="19675" y="1797"/>
                    <a:pt x="19933" y="1797"/>
                  </a:cubicBezTo>
                  <a:cubicBezTo>
                    <a:pt x="19986" y="1797"/>
                    <a:pt x="19990" y="1797"/>
                    <a:pt x="20029" y="1797"/>
                  </a:cubicBezTo>
                  <a:cubicBezTo>
                    <a:pt x="20127" y="1804"/>
                    <a:pt x="20198" y="1925"/>
                    <a:pt x="20208" y="2109"/>
                  </a:cubicBezTo>
                  <a:cubicBezTo>
                    <a:pt x="20210" y="2166"/>
                    <a:pt x="20208" y="2245"/>
                    <a:pt x="20208" y="2275"/>
                  </a:cubicBezTo>
                  <a:cubicBezTo>
                    <a:pt x="20208" y="2369"/>
                    <a:pt x="20204" y="2467"/>
                    <a:pt x="20202" y="2561"/>
                  </a:cubicBezTo>
                  <a:cubicBezTo>
                    <a:pt x="19933" y="12301"/>
                    <a:pt x="15581" y="20044"/>
                    <a:pt x="10254" y="20044"/>
                  </a:cubicBezTo>
                  <a:cubicBezTo>
                    <a:pt x="5451" y="20044"/>
                    <a:pt x="1445" y="13758"/>
                    <a:pt x="501" y="5390"/>
                  </a:cubicBezTo>
                  <a:lnTo>
                    <a:pt x="0" y="5390"/>
                  </a:lnTo>
                  <a:cubicBezTo>
                    <a:pt x="136" y="6636"/>
                    <a:pt x="336" y="7842"/>
                    <a:pt x="590" y="8994"/>
                  </a:cubicBezTo>
                  <a:cubicBezTo>
                    <a:pt x="2222" y="16387"/>
                    <a:pt x="6143" y="21600"/>
                    <a:pt x="10726" y="21600"/>
                  </a:cubicBezTo>
                  <a:cubicBezTo>
                    <a:pt x="14549" y="21600"/>
                    <a:pt x="17915" y="17969"/>
                    <a:pt x="19872" y="12467"/>
                  </a:cubicBezTo>
                  <a:cubicBezTo>
                    <a:pt x="20904" y="9495"/>
                    <a:pt x="21527" y="5988"/>
                    <a:pt x="21594" y="2226"/>
                  </a:cubicBezTo>
                  <a:cubicBezTo>
                    <a:pt x="21598" y="2000"/>
                    <a:pt x="21600" y="1394"/>
                    <a:pt x="21586" y="1021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916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spd="med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1pPr>
      <a:lvl2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2pPr>
      <a:lvl3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3pPr>
      <a:lvl4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4pPr>
      <a:lvl5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5pPr>
      <a:lvl6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6pPr>
      <a:lvl7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7pPr>
      <a:lvl8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8pPr>
      <a:lvl9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9pPr>
    </p:titleStyle>
    <p:bodyStyle>
      <a:lvl1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1pPr>
      <a:lvl2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2pPr>
      <a:lvl3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3pPr>
      <a:lvl4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4pPr>
      <a:lvl5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5pPr>
      <a:lvl6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6pPr>
      <a:lvl7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7pPr>
      <a:lvl8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8pPr>
      <a:lvl9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9pPr>
    </p:bodyStyle>
    <p:otherStyle>
      <a:lvl1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1pPr>
      <a:lvl2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2pPr>
      <a:lvl3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3pPr>
      <a:lvl4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4pPr>
      <a:lvl5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5pPr>
      <a:lvl6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6pPr>
      <a:lvl7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7pPr>
      <a:lvl8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8pPr>
      <a:lvl9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CD2D-0E52-D87B-D5BF-1D29F50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8C8CA84-0EF3-2A78-DACE-AC0C8B326EA9}"/>
              </a:ext>
            </a:extLst>
          </p:cNvPr>
          <p:cNvSpPr txBox="1"/>
          <p:nvPr/>
        </p:nvSpPr>
        <p:spPr>
          <a:xfrm>
            <a:off x="698500" y="207554"/>
            <a:ext cx="10414000" cy="609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2400" b="1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星光</a:t>
            </a:r>
            <a:r>
              <a:rPr lang="en-US" altLang="zh-CN" sz="2400" b="1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b="1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用户结构持续扩圈，口碑向好，核心家庭用户基本盘保持稳定</a:t>
            </a:r>
            <a:endParaRPr kumimoji="0" lang="zh-CN" altLang="en-US" sz="2400" b="1" i="0" u="none" strike="noStrike" cap="none" spc="0" normalizeH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3FE583-3C1D-CDE7-E464-3E2A570936D8}"/>
              </a:ext>
            </a:extLst>
          </p:cNvPr>
          <p:cNvSpPr txBox="1"/>
          <p:nvPr/>
        </p:nvSpPr>
        <p:spPr>
          <a:xfrm>
            <a:off x="698500" y="1008260"/>
            <a:ext cx="10711906" cy="11332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日，星光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用户画像收集了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836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份，其中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日前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511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份，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日后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325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份。</a:t>
            </a:r>
            <a:endParaRPr lang="en-US" altLang="zh-CN" sz="16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星光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用户结构持续年轻化扩圈，购买动机与竞品关注发生变化，决策逐步由品牌驱动转向口碑体验驱动。</a:t>
            </a:r>
            <a:endParaRPr lang="en-US" altLang="zh-CN" sz="16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省份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重点城市级画像已在画像系统生成，同步策略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战区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市场参考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67FCAFE-27A1-FE1C-364C-63F6C6A74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507356"/>
              </p:ext>
            </p:extLst>
          </p:nvPr>
        </p:nvGraphicFramePr>
        <p:xfrm>
          <a:off x="698500" y="2315457"/>
          <a:ext cx="10606314" cy="35342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6995">
                  <a:extLst>
                    <a:ext uri="{9D8B030D-6E8A-4147-A177-3AD203B41FA5}">
                      <a16:colId xmlns:a16="http://schemas.microsoft.com/office/drawing/2014/main" val="3973247269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3830385396"/>
                    </a:ext>
                  </a:extLst>
                </a:gridCol>
                <a:gridCol w="6093279">
                  <a:extLst>
                    <a:ext uri="{9D8B030D-6E8A-4147-A177-3AD203B41FA5}">
                      <a16:colId xmlns:a16="http://schemas.microsoft.com/office/drawing/2014/main" val="1686105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aseline="0" dirty="0">
                          <a:solidFill>
                            <a:schemeClr val="bg2"/>
                          </a:solidFill>
                          <a:latin typeface="+mj-lt"/>
                          <a:ea typeface="微软雅黑" panose="020B0503020204020204" pitchFamily="34" charset="-122"/>
                        </a:rPr>
                        <a:t>结论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aseline="0" dirty="0">
                          <a:solidFill>
                            <a:schemeClr val="bg2"/>
                          </a:solidFill>
                          <a:latin typeface="+mj-lt"/>
                          <a:ea typeface="微软雅黑" panose="020B0503020204020204" pitchFamily="34" charset="-122"/>
                        </a:rPr>
                        <a:t>核心判断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aseline="0" dirty="0">
                          <a:solidFill>
                            <a:schemeClr val="bg2"/>
                          </a:solidFill>
                          <a:latin typeface="+mj-lt"/>
                          <a:ea typeface="微软雅黑" panose="020B0503020204020204" pitchFamily="34" charset="-122"/>
                        </a:rPr>
                        <a:t>关键变化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91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ea typeface="微软雅黑" panose="020B0503020204020204" pitchFamily="34" charset="-122"/>
                        </a:rPr>
                        <a:t>向年轻家庭“破圈”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用户从“成熟家庭换购”向“年轻家庭</a:t>
                      </a: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经营型用户”扩展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女性占比提升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7.5%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岁及以下用户提升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2.7%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6-10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年工作年限用户提升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8.2%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商贸零售与个体经营用户占比提升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4.9%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，自由职业者提升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1.5%</a:t>
                      </a:r>
                      <a:endParaRPr lang="zh-CN" altLang="en-US" sz="1400" b="1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66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baseline="0" dirty="0">
                          <a:ea typeface="微软雅黑" panose="020B0503020204020204" pitchFamily="34" charset="-122"/>
                        </a:rPr>
                        <a:t>首购、增购需求增长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用户购车动机从“换购主导”转向“首购与增购共同驱动”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换购用户下降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ea typeface="微软雅黑" panose="020B0503020204020204" pitchFamily="34" charset="-122"/>
                        </a:rPr>
                        <a:t>12.6%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，首购和增购分别提升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7.9%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4.7%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78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ea typeface="微软雅黑" panose="020B0503020204020204" pitchFamily="34" charset="-122"/>
                        </a:rPr>
                        <a:t>口碑成为决策杠杆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决策链路从“品牌宣传驱动”转向“真实口碑</a:t>
                      </a: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体验验证驱动”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kumimoji="0" lang="zh-CN" altLang="en-US" sz="1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12181F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推荐意愿提升</a:t>
                      </a:r>
                      <a:r>
                        <a:rPr kumimoji="0" lang="en-US" altLang="zh-CN" sz="14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4.9%</a:t>
                      </a:r>
                      <a:r>
                        <a:rPr kumimoji="0" lang="zh-CN" altLang="en-US" sz="1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12181F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，达到</a:t>
                      </a:r>
                      <a:r>
                        <a:rPr kumimoji="0" lang="en-US" altLang="zh-CN" sz="14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90.5%</a:t>
                      </a:r>
                      <a:r>
                        <a:rPr kumimoji="0" lang="zh-CN" altLang="en-US" sz="1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12181F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，但官方传播影响力下降（官方广告下降</a:t>
                      </a:r>
                      <a:r>
                        <a:rPr kumimoji="0" lang="en-US" altLang="zh-CN" sz="14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4.4%</a:t>
                      </a:r>
                      <a:r>
                        <a:rPr kumimoji="0" lang="zh-CN" altLang="en-US" sz="1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12181F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 Light" panose="020B0502040204020203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68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ea typeface="微软雅黑" panose="020B0503020204020204" pitchFamily="34" charset="-122"/>
                        </a:rPr>
                        <a:t>竞争对比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同门的对比减少，零跑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C16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、长安启源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Q07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成为核心竞品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华境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S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和星光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730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对比下降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C0000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4.6%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，长安启源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Q07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对比提升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2.7%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，零跑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C16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对比提升</a:t>
                      </a:r>
                      <a:r>
                        <a:rPr lang="en-US" altLang="zh-CN" sz="1400" b="1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3.8%</a:t>
                      </a:r>
                      <a:endParaRPr lang="zh-CN" altLang="en-US" sz="1400" b="1" i="0" u="none" strike="noStrike" cap="none" spc="0" baseline="0" dirty="0">
                        <a:solidFill>
                          <a:srgbClr val="00B050"/>
                        </a:solidFill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02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ea typeface="微软雅黑" panose="020B0503020204020204" pitchFamily="34" charset="-122"/>
                        </a:rPr>
                        <a:t>核心用户保持稳定</a:t>
                      </a:r>
                      <a:endParaRPr lang="zh-CN" altLang="en-US" sz="1400" baseline="0" dirty="0"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虽然用户结构有所扩展，但星光</a:t>
                      </a: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L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核心消费基础保持稳定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三线及以下城市占比稳定（</a:t>
                      </a: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59.3%→58.2%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），城市级别分布，城乡用车分布，以及用户消费偏好和产品认知几乎无变化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09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3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星光</a:t>
            </a:r>
            <a:r>
              <a:rPr lang="en-US" altLang="zh-CN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L</a:t>
            </a: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用户边界持续性扩大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2D9323-1E18-919F-5BAF-C0A097647F96}"/>
              </a:ext>
            </a:extLst>
          </p:cNvPr>
          <p:cNvSpPr txBox="1"/>
          <p:nvPr/>
        </p:nvSpPr>
        <p:spPr>
          <a:xfrm>
            <a:off x="825500" y="1570818"/>
            <a:ext cx="4982546" cy="11056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女性提升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7.5%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6-10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年工作年限提升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8.2%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岁及以下提升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2.7%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商贸零售与个体经营用户占比提升</a:t>
            </a:r>
            <a:r>
              <a:rPr lang="en-US" altLang="zh-CN" sz="1400" b="1" cap="none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4.9%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67536A-5A3E-EBD9-52C9-93D1790F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687" y="1118429"/>
            <a:ext cx="4087119" cy="18432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649205-B81F-8950-F703-AD25CFF60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55" y="3191069"/>
            <a:ext cx="4390768" cy="3508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1126BF-1BA8-A042-C983-36F2637C0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91" y="3191069"/>
            <a:ext cx="3856560" cy="344538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22FBC49-A59B-8748-8119-BD563EE333F4}"/>
              </a:ext>
            </a:extLst>
          </p:cNvPr>
          <p:cNvSpPr/>
          <p:nvPr/>
        </p:nvSpPr>
        <p:spPr>
          <a:xfrm>
            <a:off x="380272" y="3137527"/>
            <a:ext cx="3452280" cy="352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E7847B-DCC0-6CB1-4592-7A7504E38DD3}"/>
              </a:ext>
            </a:extLst>
          </p:cNvPr>
          <p:cNvSpPr/>
          <p:nvPr/>
        </p:nvSpPr>
        <p:spPr>
          <a:xfrm>
            <a:off x="4001539" y="5156086"/>
            <a:ext cx="3526195" cy="1049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AC430A-F96B-E9CD-5F6B-8B31D84F9979}"/>
              </a:ext>
            </a:extLst>
          </p:cNvPr>
          <p:cNvSpPr/>
          <p:nvPr/>
        </p:nvSpPr>
        <p:spPr>
          <a:xfrm>
            <a:off x="8290587" y="1818862"/>
            <a:ext cx="1939807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451AFB2-FB3C-7AD7-749B-EC59042F5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94" y="3313588"/>
            <a:ext cx="4355506" cy="313318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7190AC5E-101A-772E-D444-E5C5E8BDFE02}"/>
              </a:ext>
            </a:extLst>
          </p:cNvPr>
          <p:cNvSpPr/>
          <p:nvPr/>
        </p:nvSpPr>
        <p:spPr>
          <a:xfrm>
            <a:off x="8027127" y="4270582"/>
            <a:ext cx="3056708" cy="334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D2E2B8-3D48-25B4-F152-2A037D6B3050}"/>
              </a:ext>
            </a:extLst>
          </p:cNvPr>
          <p:cNvSpPr txBox="1"/>
          <p:nvPr/>
        </p:nvSpPr>
        <p:spPr>
          <a:xfrm>
            <a:off x="825500" y="1238519"/>
            <a:ext cx="6702235" cy="330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星光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用户不再局限于成熟家庭换购群体，年轻家庭及经营型用户占比提升</a:t>
            </a:r>
          </a:p>
        </p:txBody>
      </p:sp>
    </p:spTree>
    <p:extLst>
      <p:ext uri="{BB962C8B-B14F-4D97-AF65-F5344CB8AC3E}">
        <p14:creationId xmlns:p14="http://schemas.microsoft.com/office/powerpoint/2010/main" val="20615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首购、增购增长，配置从旗舰型向臻享与舒享分流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9B5BBB-1466-FFEA-B41B-507FF8824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66" y="4042954"/>
            <a:ext cx="5178381" cy="233534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30B02B6-D30D-62A5-7B37-17D8EF23FD3B}"/>
              </a:ext>
            </a:extLst>
          </p:cNvPr>
          <p:cNvSpPr txBox="1"/>
          <p:nvPr/>
        </p:nvSpPr>
        <p:spPr>
          <a:xfrm>
            <a:off x="825500" y="1136469"/>
            <a:ext cx="7541260" cy="5889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400" dirty="0">
                <a:latin typeface="+mj-ea"/>
                <a:ea typeface="+mj-ea"/>
              </a:rPr>
              <a:t>六座大空间仍是核心需求，但用户购车经验、预算结构及决策路径更加多元，产品覆盖场景从“家庭升级”进一步延伸至“首次购车”和“多车家庭补充”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0E0E729-94FA-2539-4005-FE54BABF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755" y="3429000"/>
            <a:ext cx="4206241" cy="315468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DC7A5EE-97DF-76A8-2828-F714CA1413BE}"/>
              </a:ext>
            </a:extLst>
          </p:cNvPr>
          <p:cNvSpPr/>
          <p:nvPr/>
        </p:nvSpPr>
        <p:spPr>
          <a:xfrm>
            <a:off x="574766" y="4042954"/>
            <a:ext cx="5003074" cy="620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F74E58-B035-65E4-FDD0-DEB9F4EC93C8}"/>
              </a:ext>
            </a:extLst>
          </p:cNvPr>
          <p:cNvSpPr txBox="1"/>
          <p:nvPr/>
        </p:nvSpPr>
        <p:spPr>
          <a:xfrm>
            <a:off x="825500" y="1857171"/>
            <a:ext cx="7345317" cy="10270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换购用户下降</a:t>
            </a:r>
            <a:r>
              <a:rPr lang="en-US" altLang="zh-CN" sz="1400" b="1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12.6%</a:t>
            </a:r>
            <a:r>
              <a:rPr lang="zh-CN" altLang="en-US" sz="1400" b="1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首购和增购分别提升</a:t>
            </a:r>
            <a:r>
              <a:rPr lang="en-US" altLang="zh-CN" sz="1400" b="1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7.9%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b="1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4.7%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旗舰车型下降</a:t>
            </a:r>
            <a:r>
              <a:rPr lang="en-US" altLang="zh-CN" sz="1400" b="1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11.6%</a:t>
            </a: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，臻享车型和舒享车型分别增加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7.6%</a:t>
            </a: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4%</a:t>
            </a:r>
            <a:endParaRPr lang="zh-CN" altLang="en-US" sz="14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934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决策信任向口碑转向，用户推荐意愿提升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06251F-BDAB-238C-BA10-61B0A50C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930" y="3065228"/>
            <a:ext cx="4473437" cy="35798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60B2582-EE2B-36FD-C588-56C8A53136A9}"/>
              </a:ext>
            </a:extLst>
          </p:cNvPr>
          <p:cNvSpPr/>
          <p:nvPr/>
        </p:nvSpPr>
        <p:spPr>
          <a:xfrm>
            <a:off x="7069357" y="3735126"/>
            <a:ext cx="3091544" cy="373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DFA4CE-AFF7-416F-C179-06C01E2C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3065228"/>
            <a:ext cx="5584190" cy="262357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AE20D63-383A-03C9-7298-55E3D47B5391}"/>
              </a:ext>
            </a:extLst>
          </p:cNvPr>
          <p:cNvSpPr/>
          <p:nvPr/>
        </p:nvSpPr>
        <p:spPr>
          <a:xfrm>
            <a:off x="825500" y="3065228"/>
            <a:ext cx="5003800" cy="834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898E4E-2915-A560-75DD-6107603BC5C7}"/>
              </a:ext>
            </a:extLst>
          </p:cNvPr>
          <p:cNvSpPr/>
          <p:nvPr/>
        </p:nvSpPr>
        <p:spPr>
          <a:xfrm>
            <a:off x="6905065" y="3133165"/>
            <a:ext cx="4603302" cy="295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D5FB38-4B68-54BA-2B6D-051DEA038263}"/>
              </a:ext>
            </a:extLst>
          </p:cNvPr>
          <p:cNvSpPr txBox="1"/>
          <p:nvPr/>
        </p:nvSpPr>
        <p:spPr>
          <a:xfrm>
            <a:off x="829238" y="1531618"/>
            <a:ext cx="5351929" cy="1374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车主口碑提升 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4.9%</a:t>
            </a: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排行榜影响提升 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3.1%</a:t>
            </a: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官方广告影响下降 </a:t>
            </a:r>
            <a:r>
              <a:rPr lang="en-US" altLang="zh-CN" sz="14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4.4%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用户推荐意愿提升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lang="zh-CN" altLang="en-US" sz="14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0174F0-253C-13DA-894F-1C28CB50A5A1}"/>
              </a:ext>
            </a:extLst>
          </p:cNvPr>
          <p:cNvSpPr txBox="1"/>
          <p:nvPr/>
        </p:nvSpPr>
        <p:spPr>
          <a:xfrm>
            <a:off x="825500" y="1048871"/>
            <a:ext cx="9246347" cy="330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ea typeface="微软雅黑" panose="020B0503020204020204" pitchFamily="34" charset="-122"/>
              </a:rPr>
              <a:t>用户决策从关注品牌宣传，转向认可真实口碑与体验验证，同时用户推荐意愿提升，</a:t>
            </a:r>
            <a:r>
              <a:rPr lang="zh-CN" altLang="en-US" sz="1400" cap="none" dirty="0">
                <a:solidFill>
                  <a:schemeClr val="dk1"/>
                </a:solidFill>
                <a:ea typeface="微软雅黑" panose="020B0503020204020204" pitchFamily="34" charset="-122"/>
                <a:sym typeface="Arial" panose="020B0604020202090204"/>
              </a:rPr>
              <a:t>用户认可进一步增强</a:t>
            </a:r>
            <a:endParaRPr lang="zh-CN" altLang="en-US" sz="14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60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E116-2537-4E34-B2DD-F4668E0A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00AECFB-96A2-F868-FF0A-CF5687E64D03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zh-CN" altLang="en-US" sz="22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竞品核心从同门转向至同级产品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65C32E-BFBA-2555-F50A-EAAB60B06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" y="3187091"/>
            <a:ext cx="5693350" cy="364904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CF3FC32-5F00-F2B2-5B9A-B0C55907C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320" y="3166966"/>
            <a:ext cx="3772154" cy="36910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00BBE0-5675-1437-F41E-6E61D43373AB}"/>
              </a:ext>
            </a:extLst>
          </p:cNvPr>
          <p:cNvSpPr txBox="1"/>
          <p:nvPr/>
        </p:nvSpPr>
        <p:spPr>
          <a:xfrm>
            <a:off x="653142" y="1072285"/>
            <a:ext cx="6008915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对比车型变化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竞品对比重心从同门车型（华境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S/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星光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730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）转向零跑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，启源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Q07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934BFB-4762-502B-B245-BE2E9A059202}"/>
              </a:ext>
            </a:extLst>
          </p:cNvPr>
          <p:cNvSpPr txBox="1"/>
          <p:nvPr/>
        </p:nvSpPr>
        <p:spPr>
          <a:xfrm>
            <a:off x="653142" y="1784237"/>
            <a:ext cx="6096000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置换来源变化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合资燃油车的产品置换的占比明显提升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1094F9-97FE-10BE-E24B-250DE9BA7E21}"/>
              </a:ext>
            </a:extLst>
          </p:cNvPr>
          <p:cNvSpPr/>
          <p:nvPr/>
        </p:nvSpPr>
        <p:spPr>
          <a:xfrm>
            <a:off x="93306" y="3137418"/>
            <a:ext cx="4808376" cy="538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74E968-7358-70AF-C587-4A6D779A5FB9}"/>
              </a:ext>
            </a:extLst>
          </p:cNvPr>
          <p:cNvSpPr/>
          <p:nvPr/>
        </p:nvSpPr>
        <p:spPr>
          <a:xfrm>
            <a:off x="4973217" y="3137417"/>
            <a:ext cx="3536302" cy="553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9B8290-6F39-5689-3E0F-E6958872DAC0}"/>
              </a:ext>
            </a:extLst>
          </p:cNvPr>
          <p:cNvSpPr/>
          <p:nvPr/>
        </p:nvSpPr>
        <p:spPr>
          <a:xfrm>
            <a:off x="4973217" y="3691033"/>
            <a:ext cx="3536302" cy="286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28625A-3CE3-5792-5E82-8A176E67794A}"/>
              </a:ext>
            </a:extLst>
          </p:cNvPr>
          <p:cNvSpPr/>
          <p:nvPr/>
        </p:nvSpPr>
        <p:spPr>
          <a:xfrm>
            <a:off x="4973217" y="5288423"/>
            <a:ext cx="3536302" cy="286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170990-1FCA-9A03-7A5B-21A9FD99E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16" r="6443"/>
          <a:stretch>
            <a:fillRect/>
          </a:stretch>
        </p:blipFill>
        <p:spPr>
          <a:xfrm>
            <a:off x="8686461" y="3137417"/>
            <a:ext cx="3505539" cy="35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0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9615-0162-33B7-8D68-315BA2F2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5402293-7F65-395D-0C89-C1099D650040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星光</a:t>
            </a:r>
            <a:r>
              <a:rPr lang="en-US" altLang="zh-CN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L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基盘用户保持稳定</a:t>
            </a:r>
            <a:endParaRPr kumimoji="0" lang="zh-CN" altLang="en-US" sz="2200" b="1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487640D-74FD-39F6-0968-A0B1A371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923" y="4509547"/>
            <a:ext cx="4545077" cy="219455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8C11835-FB09-4EF0-4EC0-0E38444A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790" y="2348453"/>
            <a:ext cx="4231341" cy="19134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BDAA371-2257-9F84-8D1C-77B294DD3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56777"/>
            <a:ext cx="3952312" cy="354071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478D6EA-2843-A644-B162-E4B3F774E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8460" y="3256777"/>
            <a:ext cx="4023983" cy="354071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E46198D-3BAF-93E9-14F3-FFF22FA42A2A}"/>
              </a:ext>
            </a:extLst>
          </p:cNvPr>
          <p:cNvSpPr txBox="1"/>
          <p:nvPr/>
        </p:nvSpPr>
        <p:spPr>
          <a:xfrm>
            <a:off x="708209" y="1492624"/>
            <a:ext cx="6488205" cy="1374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ea typeface="微软雅黑" panose="020B0503020204020204" pitchFamily="34" charset="-122"/>
              </a:rPr>
              <a:t>二线城市占比提升，但三线及以下城市仍占比稳定（</a:t>
            </a:r>
            <a:r>
              <a:rPr lang="en-US" altLang="zh-CN" sz="1400" dirty="0">
                <a:ea typeface="微软雅黑" panose="020B0503020204020204" pitchFamily="34" charset="-122"/>
              </a:rPr>
              <a:t>59.3%→58.2%</a:t>
            </a:r>
            <a:r>
              <a:rPr lang="zh-CN" altLang="en-US" sz="1400" dirty="0">
                <a:ea typeface="微软雅黑" panose="020B0503020204020204" pitchFamily="34" charset="-122"/>
              </a:rPr>
              <a:t>）；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ea typeface="微软雅黑" panose="020B0503020204020204" pitchFamily="34" charset="-122"/>
              </a:rPr>
              <a:t>城区用车比例基本不变；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ea typeface="微软雅黑" panose="020B0503020204020204" pitchFamily="34" charset="-122"/>
              </a:rPr>
              <a:t>消费观念仍以品牌、务实、颜值为主；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ea typeface="微软雅黑" panose="020B0503020204020204" pitchFamily="34" charset="-122"/>
              </a:rPr>
              <a:t>产品认知保持“国民、家庭、亲民、务实、可靠”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725DB2-F5C4-1D4C-BCC7-DCBDEE757616}"/>
              </a:ext>
            </a:extLst>
          </p:cNvPr>
          <p:cNvSpPr txBox="1"/>
          <p:nvPr/>
        </p:nvSpPr>
        <p:spPr>
          <a:xfrm>
            <a:off x="825500" y="1062318"/>
            <a:ext cx="5864412" cy="330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ea typeface="微软雅黑" panose="020B0503020204020204" pitchFamily="34" charset="-122"/>
              </a:rPr>
              <a:t>虽然用户结构有所扩展，但星光</a:t>
            </a:r>
            <a:r>
              <a:rPr lang="en-US" altLang="zh-CN" sz="1400" dirty="0">
                <a:ea typeface="微软雅黑" panose="020B0503020204020204" pitchFamily="34" charset="-122"/>
              </a:rPr>
              <a:t>L</a:t>
            </a:r>
            <a:r>
              <a:rPr lang="zh-CN" altLang="en-US" sz="1400" dirty="0">
                <a:ea typeface="微软雅黑" panose="020B0503020204020204" pitchFamily="34" charset="-122"/>
              </a:rPr>
              <a:t>核心消费基础保持稳定</a:t>
            </a:r>
            <a:endParaRPr lang="zh-CN" altLang="en-US" sz="1400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54413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SGMW">
      <a:dk1>
        <a:srgbClr val="000F15"/>
      </a:dk1>
      <a:lt1>
        <a:srgbClr val="5C666F"/>
      </a:lt1>
      <a:dk2>
        <a:srgbClr val="BDC2C6"/>
      </a:dk2>
      <a:lt2>
        <a:srgbClr val="F1F4F7"/>
      </a:lt2>
      <a:accent1>
        <a:srgbClr val="005CE7"/>
      </a:accent1>
      <a:accent2>
        <a:srgbClr val="172F5F"/>
      </a:accent2>
      <a:accent3>
        <a:srgbClr val="7EC0FF"/>
      </a:accent3>
      <a:accent4>
        <a:srgbClr val="C11656"/>
      </a:accent4>
      <a:accent5>
        <a:srgbClr val="E25C4E"/>
      </a:accent5>
      <a:accent6>
        <a:srgbClr val="79868E"/>
      </a:accent6>
      <a:hlink>
        <a:srgbClr val="6FB4FF"/>
      </a:hlink>
      <a:folHlink>
        <a:srgbClr val="E25C4E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wrap="square" rtlCol="0" anchor="ctr">
        <a:spAutoFit/>
      </a:bodyPr>
      <a:lstStyle>
        <a:defPPr algn="l" defTabSz="457200">
          <a:defRPr kumimoji="0" sz="1400" b="1" i="0" u="none" strike="noStrike" kern="1200" cap="none" spc="0" normalizeH="0" baseline="0" noProof="0" dirty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wrap="square" rtlCol="0">
        <a:spAutoFit/>
      </a:bodyPr>
      <a:lstStyle>
        <a:defPPr marL="285750" indent="-285750" algn="l">
          <a:buFont typeface="Wingdings" panose="05000000000000000000" pitchFamily="2" charset="2"/>
          <a:buChar char="p"/>
          <a:defRPr sz="1400" cap="none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C11CA91-3521-4A8C-A37D-C05CFCDA0657}" vid="{0D5D4FE6-E352-4D07-AC74-857B1EDA808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SGMW营销模板</Template>
  <TotalTime>342</TotalTime>
  <Words>678</Words>
  <Application>Microsoft Office PowerPoint</Application>
  <PresentationFormat>宽屏</PresentationFormat>
  <Paragraphs>51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Microsoft YaHei</vt:lpstr>
      <vt:lpstr>Microsoft YaHei</vt:lpstr>
      <vt:lpstr>微软雅黑 Light</vt:lpstr>
      <vt:lpstr>Arial</vt:lpstr>
      <vt:lpstr>Wingdings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琳瑛 赵</dc:creator>
  <cp:lastModifiedBy>琳瑛 赵</cp:lastModifiedBy>
  <cp:revision>15</cp:revision>
  <dcterms:created xsi:type="dcterms:W3CDTF">2026-08-06T06:03:47Z</dcterms:created>
  <dcterms:modified xsi:type="dcterms:W3CDTF">2026-08-11T10:10:51Z</dcterms:modified>
</cp:coreProperties>
</file>